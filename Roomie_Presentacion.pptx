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7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9C98"/>
    <a:srgbClr val="1A2340"/>
    <a:srgbClr val="FE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3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EC18-21C3-23E3-D541-04A53BC5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D112F-89DF-ED92-1BBF-18985D8B4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C6C6F-AFDA-28E7-61DE-41B2D49DF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F7AA9-9D1A-A73B-BF9D-8965E13BB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69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5449-BD65-FCED-5FBB-05BDBABF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9E047-E97F-3681-0F39-37352615E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0F242-BDAF-008B-EA03-55A6C5B44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819D0-A24B-1A33-30FA-38F00C676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5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81F4-FDD2-D3A7-DFC9-9C28CFBB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C0BDF-9240-3A6A-BCCD-534E65849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454AE-7105-B34C-1887-CAE0E3188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4A008-BE84-8413-82AB-E5B4A7743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46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4795-2866-41A5-76B4-D3330133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87433-2DA6-CC1D-7CA6-074548466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9CB0C-7124-0F02-040D-A798E0AF8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1CD1-A807-7608-D1EC-5ABDECC98C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28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_iyiW3t_a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ROOMIE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alquiler de habitaciones para estudiantes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Geada · Eric Ramos · Denis Rico · Ángel Rocamora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· IES Mutxamel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PLANTEADO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Encontrar habitación siendo estudiante es difícil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80160" y="1600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Oferta diluida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portales (Idealista, Fotocasa)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sueltas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233672" y="1600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18288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 no especializado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64992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portal está enfocado 100% en habitaciones estudiantiles cerca de universidades.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187184" y="1600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1836576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de fraude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18504" y="28346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jóvenes sin experiencia son vulnerables a abusos de arrendadores y prácticas desleales.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 actuales: Idealista ·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Fotocasa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946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DEL PROYECTO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0427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queremos conseguir?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2336" y="1009378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02336" y="106424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" y="106424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enfocada exclusivamente en habitaciones estudiantiles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" y="1676890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2336" y="173175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030803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precio, tipo y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" y="234440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02336" y="239926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" y="3011914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02336" y="306677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9556" y="24166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CRUD con JavaFX + SQL Server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" y="3679426"/>
            <a:ext cx="475488" cy="475488"/>
          </a:xfrm>
          <a:prstGeom prst="rect">
            <a:avLst/>
          </a:prstGeom>
          <a:solidFill>
            <a:srgbClr val="FE6A6A"/>
          </a:solidFill>
          <a:ln w="12700">
            <a:solidFill>
              <a:srgbClr val="FE6A6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02336" y="373429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4410" y="43726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al estudiante de fraudes y prácticas abusivas</a:t>
            </a:r>
            <a:endParaRPr lang="en-US" sz="1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E1AD04A1-7764-1F29-4390-FF23BEE77739}"/>
              </a:ext>
            </a:extLst>
          </p:cNvPr>
          <p:cNvSpPr/>
          <p:nvPr/>
        </p:nvSpPr>
        <p:spPr>
          <a:xfrm>
            <a:off x="1030986" y="1707949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visitas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inquilino</a:t>
            </a:r>
            <a:endParaRPr lang="en-US" sz="14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6BE181E6-EDBE-0E41-F4D3-D860B2CF0B2E}"/>
              </a:ext>
            </a:extLst>
          </p:cNvPr>
          <p:cNvSpPr/>
          <p:nvPr/>
        </p:nvSpPr>
        <p:spPr>
          <a:xfrm>
            <a:off x="402336" y="4355282"/>
            <a:ext cx="475488" cy="475488"/>
          </a:xfrm>
          <a:prstGeom prst="rect">
            <a:avLst/>
          </a:prstGeom>
          <a:solidFill>
            <a:srgbClr val="FE6A6A"/>
          </a:solidFill>
          <a:ln w="12700">
            <a:solidFill>
              <a:srgbClr val="FE6A6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0AA46BC-7B3E-8A16-800C-A3C7696AB5E1}"/>
              </a:ext>
            </a:extLst>
          </p:cNvPr>
          <p:cNvSpPr/>
          <p:nvPr/>
        </p:nvSpPr>
        <p:spPr>
          <a:xfrm>
            <a:off x="402336" y="441014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51603ED-363C-B7CA-97FB-94D7005B95F5}"/>
              </a:ext>
            </a:extLst>
          </p:cNvPr>
          <p:cNvSpPr/>
          <p:nvPr/>
        </p:nvSpPr>
        <p:spPr>
          <a:xfrm>
            <a:off x="982980" y="3738897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SOLUCIÓN DESARROLLADA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689719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clave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18349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13232" y="1092055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como inquilino o arrendador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" y="165898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13232" y="1567543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 de habitaciones (precio, tipo, extras)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" y="2134471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13232" y="2043031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detalle con fotos y características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" y="260995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13232" y="2518519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visita directa desde la web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inquilinos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" y="3085447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13232" y="2994007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arrendadores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ES" b="1" dirty="0">
                <a:solidFill>
                  <a:schemeClr val="bg1"/>
                </a:solidFill>
              </a:rPr>
              <a:t>https://roomie-web-blue.vercel.app/index.html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F02FFDE2-4DB2-0157-0020-2BA3DCC4BDA1}"/>
              </a:ext>
            </a:extLst>
          </p:cNvPr>
          <p:cNvSpPr/>
          <p:nvPr/>
        </p:nvSpPr>
        <p:spPr>
          <a:xfrm>
            <a:off x="402336" y="35570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1410AB3-0411-63A6-118A-2965F3ECB3D9}"/>
              </a:ext>
            </a:extLst>
          </p:cNvPr>
          <p:cNvSpPr/>
          <p:nvPr/>
        </p:nvSpPr>
        <p:spPr>
          <a:xfrm>
            <a:off x="713232" y="34655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reconocimiento facial (Teachable Machine)</a:t>
            </a:r>
            <a:endParaRPr lang="en-US" sz="120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B5F513E8-9A1D-A5DB-14BE-3699E892FE80}"/>
              </a:ext>
            </a:extLst>
          </p:cNvPr>
          <p:cNvSpPr/>
          <p:nvPr/>
        </p:nvSpPr>
        <p:spPr>
          <a:xfrm>
            <a:off x="402336" y="40384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4FDBEEDA-9704-02FE-8D52-3277F92C1333}"/>
              </a:ext>
            </a:extLst>
          </p:cNvPr>
          <p:cNvSpPr/>
          <p:nvPr/>
        </p:nvSpPr>
        <p:spPr>
          <a:xfrm>
            <a:off x="694944" y="404800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functional para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actualizer,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base de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D32920D4-575E-E154-490B-0054C586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4218"/>
            <a:ext cx="3927886" cy="1733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DISEÑO DEL SISTEMA: DIAGRAMA DE ARQUITECTURA</a:t>
            </a:r>
            <a:endParaRPr lang="en-US" sz="14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A9431570-469B-0DF6-13CB-C95E8C656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038" y="823179"/>
            <a:ext cx="6499044" cy="4121546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A2FD51B8-3C0A-31F5-E909-76F8B4EC3500}"/>
              </a:ext>
            </a:extLst>
          </p:cNvPr>
          <p:cNvSpPr/>
          <p:nvPr/>
        </p:nvSpPr>
        <p:spPr>
          <a:xfrm>
            <a:off x="-1" y="502920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2DF245-917C-1C4D-0AC9-154176B66CA4}"/>
              </a:ext>
            </a:extLst>
          </p:cNvPr>
          <p:cNvSpPr/>
          <p:nvPr/>
        </p:nvSpPr>
        <p:spPr>
          <a:xfrm>
            <a:off x="7987145" y="493776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C9C6-BC09-7A1E-3F5E-C783DCCF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79384E-25C7-178C-9918-B36014B3D6D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410338-783A-2362-033A-4401F0F3BA43}"/>
              </a:ext>
            </a:extLst>
          </p:cNvPr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DISEÑO DEL SISTEMA: CASOS DE USO </a:t>
            </a:r>
            <a:endParaRPr lang="en-US" sz="14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39BEB88-1166-5E88-45EE-1E11F8417FAB}"/>
              </a:ext>
            </a:extLst>
          </p:cNvPr>
          <p:cNvSpPr/>
          <p:nvPr/>
        </p:nvSpPr>
        <p:spPr>
          <a:xfrm>
            <a:off x="-1" y="502920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31ACA69-125A-3862-8E16-8704C022AAAB}"/>
              </a:ext>
            </a:extLst>
          </p:cNvPr>
          <p:cNvSpPr/>
          <p:nvPr/>
        </p:nvSpPr>
        <p:spPr>
          <a:xfrm>
            <a:off x="7987145" y="493776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0D9826-01A2-0A22-DE49-E8D03B35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70" t="5066" r="19486" b="24267"/>
          <a:stretch>
            <a:fillRect/>
          </a:stretch>
        </p:blipFill>
        <p:spPr>
          <a:xfrm>
            <a:off x="1877785" y="593180"/>
            <a:ext cx="5388429" cy="455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4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41851-456A-F81B-9F11-BDAE78E6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B502BC-0CC8-1125-FE26-047AFD12CEE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D0FBBD-1EE6-B393-BEE9-2987FA8B2A3F}"/>
              </a:ext>
            </a:extLst>
          </p:cNvPr>
          <p:cNvSpPr/>
          <p:nvPr/>
        </p:nvSpPr>
        <p:spPr>
          <a:xfrm>
            <a:off x="365760" y="73152"/>
            <a:ext cx="4728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DISEÑO DEL SISTEMA: BASE DE DATOS	</a:t>
            </a:r>
            <a:endParaRPr lang="en-US" sz="14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AEF1668-AE9F-B5E3-736D-F4815DF5CDC9}"/>
              </a:ext>
            </a:extLst>
          </p:cNvPr>
          <p:cNvSpPr/>
          <p:nvPr/>
        </p:nvSpPr>
        <p:spPr>
          <a:xfrm>
            <a:off x="6668589" y="493776"/>
            <a:ext cx="2475411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A172C1-B68A-2D80-11AA-75F1932A3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773376"/>
            <a:ext cx="6572144" cy="42969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124E14-4211-DB2B-5277-735F74697380}"/>
              </a:ext>
            </a:extLst>
          </p:cNvPr>
          <p:cNvSpPr txBox="1"/>
          <p:nvPr/>
        </p:nvSpPr>
        <p:spPr>
          <a:xfrm>
            <a:off x="6720840" y="694313"/>
            <a:ext cx="232518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USER (TENANT/OWNER)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PROPERTY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CONTRACT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ROOM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FURNITURE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CITY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PROVINCE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INSTITUTION</a:t>
            </a:r>
            <a:br>
              <a:rPr lang="es-ES" sz="1400" dirty="0">
                <a:solidFill>
                  <a:srgbClr val="189C98"/>
                </a:solidFill>
              </a:rPr>
            </a:br>
            <a:endParaRPr lang="es-ES" sz="1400" dirty="0">
              <a:solidFill>
                <a:srgbClr val="189C98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sz="1400" dirty="0">
                <a:solidFill>
                  <a:srgbClr val="189C98"/>
                </a:solidFill>
              </a:rPr>
              <a:t>“CONTRACT”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6FDACA-5FB1-E814-9C3F-D920F2681193}"/>
              </a:ext>
            </a:extLst>
          </p:cNvPr>
          <p:cNvSpPr txBox="1"/>
          <p:nvPr/>
        </p:nvSpPr>
        <p:spPr>
          <a:xfrm>
            <a:off x="7080069" y="67785"/>
            <a:ext cx="247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189C98"/>
                </a:solidFill>
              </a:rPr>
              <a:t>ENTIDADES</a:t>
            </a:r>
          </a:p>
        </p:txBody>
      </p:sp>
    </p:spTree>
    <p:extLst>
      <p:ext uri="{BB962C8B-B14F-4D97-AF65-F5344CB8AC3E}">
        <p14:creationId xmlns:p14="http://schemas.microsoft.com/office/powerpoint/2010/main" val="369130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265C4-7955-24EB-FFBA-9434334B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2AFB7D-98CB-832F-75A4-9CB7E644130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2CF512-73ED-C30F-F82A-A9FB5CE9C5DE}"/>
              </a:ext>
            </a:extLst>
          </p:cNvPr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DISEÑO DEL SISTEMA: DIAGRAMA DE CLASES </a:t>
            </a:r>
            <a:endParaRPr lang="en-US" sz="14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DE98D91-D70A-1B8A-31B0-D7E002701E1C}"/>
              </a:ext>
            </a:extLst>
          </p:cNvPr>
          <p:cNvSpPr/>
          <p:nvPr/>
        </p:nvSpPr>
        <p:spPr>
          <a:xfrm>
            <a:off x="-1" y="502920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E4188AB-6764-299C-76F7-01D86CF4CF5F}"/>
              </a:ext>
            </a:extLst>
          </p:cNvPr>
          <p:cNvSpPr/>
          <p:nvPr/>
        </p:nvSpPr>
        <p:spPr>
          <a:xfrm>
            <a:off x="7987145" y="493776"/>
            <a:ext cx="1156855" cy="4640580"/>
          </a:xfrm>
          <a:prstGeom prst="rect">
            <a:avLst/>
          </a:prstGeom>
          <a:solidFill>
            <a:srgbClr val="1A23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6F96FB-5AD2-3E10-7A27-E760D8E98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496" y="502920"/>
            <a:ext cx="4428797" cy="463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1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UTILIZADAS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+ CSS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diseño visual de la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685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46120" y="6858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0" y="850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124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Interactividad, filtros y Local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685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172200" y="685800"/>
            <a:ext cx="27432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309360" y="850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1124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del frontend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GitHub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5720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+ JavaFX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CRUD para administración de la BD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5146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46120" y="251460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8328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8328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BD e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5146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172200" y="2514600"/>
            <a:ext cx="27432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3093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EXTRAS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Teachable Machine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para login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IntelliJ IDEA · VS Code · GitHub · Sourcetree · Trello · Draw.io · SQL Server Management Studio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F75D5-7792-85A6-3731-096CF994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B636CD-2FC0-1623-0010-643D5B3D66D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4CC8F0-6815-030B-DE05-6CEB785511CA}"/>
              </a:ext>
            </a:extLst>
          </p:cNvPr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DEMO</a:t>
            </a:r>
            <a:endParaRPr lang="en-US" sz="14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68B7AB2-4FAC-1388-E534-F3CF8E5A6217}"/>
              </a:ext>
            </a:extLst>
          </p:cNvPr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79C14E-FE1D-0552-2643-5A8212EEE392}"/>
              </a:ext>
            </a:extLst>
          </p:cNvPr>
          <p:cNvSpPr txBox="1"/>
          <p:nvPr/>
        </p:nvSpPr>
        <p:spPr>
          <a:xfrm>
            <a:off x="3115157" y="870599"/>
            <a:ext cx="210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a video </a:t>
            </a:r>
            <a:r>
              <a:rPr lang="es-ES" dirty="0" err="1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r>
              <a:rPr lang="es-E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77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43562"/>
          </a:solidFill>
          <a:ln w="12700">
            <a:solidFill>
              <a:srgbClr val="24356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Logros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088136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97840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funcional con reconocimiento facial, filtros y solicitud de visitas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76756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66928" y="13670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completa con triggers y app JavaFX de administración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88236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66928" y="177850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conexión frontend–backend con Local Storage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76856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66928" y="21671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Kanban aplicada en todo el desarrollo con Trello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" y="27523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Pendiente y mejoras futuras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76656" y="31821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real frontend backend 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474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76656" y="354949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mapa interactivo (API Maps)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08309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76656" y="3916869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con Flutter / Android Studio (CRM)</a:t>
            </a:r>
            <a:endParaRPr lang="en-US" sz="12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259169BB-2C76-1DAA-F95C-96B604AAD5CC}"/>
              </a:ext>
            </a:extLst>
          </p:cNvPr>
          <p:cNvSpPr/>
          <p:nvPr/>
        </p:nvSpPr>
        <p:spPr>
          <a:xfrm>
            <a:off x="365760" y="436464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43FCEE5-3E00-BE6F-9963-227D94A8010D}"/>
              </a:ext>
            </a:extLst>
          </p:cNvPr>
          <p:cNvSpPr/>
          <p:nvPr/>
        </p:nvSpPr>
        <p:spPr>
          <a:xfrm>
            <a:off x="676656" y="4279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Función</a:t>
            </a:r>
            <a:r>
              <a:rPr lang="en-US" sz="1200" dirty="0">
                <a:solidFill>
                  <a:schemeClr val="bg1"/>
                </a:solidFill>
              </a:rPr>
              <a:t> para </a:t>
            </a:r>
            <a:r>
              <a:rPr lang="en-US" sz="1200" dirty="0" err="1">
                <a:solidFill>
                  <a:schemeClr val="bg1"/>
                </a:solidFill>
              </a:rPr>
              <a:t>firmar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contratos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desde</a:t>
            </a:r>
            <a:r>
              <a:rPr lang="en-US" sz="1200" dirty="0">
                <a:solidFill>
                  <a:schemeClr val="bg1"/>
                </a:solidFill>
              </a:rPr>
              <a:t> la App</a:t>
            </a: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E05FB447-39AC-7B84-C760-D3E424F8E159}"/>
              </a:ext>
            </a:extLst>
          </p:cNvPr>
          <p:cNvSpPr/>
          <p:nvPr/>
        </p:nvSpPr>
        <p:spPr>
          <a:xfrm>
            <a:off x="365760" y="4727165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B7F75DE-983E-D9D7-C706-DEB85370919C}"/>
              </a:ext>
            </a:extLst>
          </p:cNvPr>
          <p:cNvSpPr/>
          <p:nvPr/>
        </p:nvSpPr>
        <p:spPr>
          <a:xfrm>
            <a:off x="676656" y="4641915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Función</a:t>
            </a:r>
            <a:r>
              <a:rPr lang="en-US" sz="1200" dirty="0">
                <a:solidFill>
                  <a:schemeClr val="bg1"/>
                </a:solidFill>
              </a:rPr>
              <a:t> para </a:t>
            </a:r>
            <a:r>
              <a:rPr lang="en-US" sz="1200" dirty="0" err="1">
                <a:solidFill>
                  <a:schemeClr val="bg1"/>
                </a:solidFill>
              </a:rPr>
              <a:t>controlar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depósito</a:t>
            </a:r>
            <a:r>
              <a:rPr lang="en-US" sz="1200" dirty="0">
                <a:solidFill>
                  <a:schemeClr val="bg1"/>
                </a:solidFill>
              </a:rPr>
              <a:t> del </a:t>
            </a:r>
            <a:r>
              <a:rPr lang="en-US" sz="1200" dirty="0" err="1">
                <a:solidFill>
                  <a:schemeClr val="bg1"/>
                </a:solidFill>
              </a:rPr>
              <a:t>alquiler</a:t>
            </a:r>
            <a:r>
              <a:rPr lang="en-US" sz="1200" dirty="0">
                <a:solidFill>
                  <a:schemeClr val="bg1"/>
                </a:solidFill>
              </a:rPr>
              <a:t> y </a:t>
            </a:r>
            <a:r>
              <a:rPr lang="en-US" sz="1200" dirty="0" err="1">
                <a:solidFill>
                  <a:schemeClr val="bg1"/>
                </a:solidFill>
              </a:rPr>
              <a:t>evitar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fraudes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494</Words>
  <Application>Microsoft Office PowerPoint</Application>
  <PresentationFormat>Presentación en pantalla (16:9)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Roomie - Proyecto Intermodular</dc:title>
  <dc:subject>PptxGenJS Presentation</dc:subject>
  <dc:creator>PptxGenJS</dc:creator>
  <cp:lastModifiedBy>GEADA ORTS, ADRIÁN</cp:lastModifiedBy>
  <cp:revision>4</cp:revision>
  <dcterms:created xsi:type="dcterms:W3CDTF">2026-05-17T16:07:42Z</dcterms:created>
  <dcterms:modified xsi:type="dcterms:W3CDTF">2026-05-17T20:02:24Z</dcterms:modified>
</cp:coreProperties>
</file>