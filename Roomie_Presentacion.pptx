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36E3224-0327-47E9-B8CE-9FE20820241E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3BBADD8-2FA2-4B0E-893F-A8E1B5EB51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949A7F6-619F-4E59-BEB2-A91EEF7A83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5AE2B3A-9A57-4139-B8F7-D379A9B570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2A5D4B1-6F42-4042-B8BF-C147031BDA6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4C655BF-27E3-4BED-9E26-32EC88A5173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9F0D031-9B94-49B9-9AE7-9219F1594A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86046E8-46F5-4933-BC8F-28E55DDE8E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F0E11C-48AC-40F3-9DA2-267411336B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FD7AA36-CD45-48B5-872E-521CE726FD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1222DAB-9271-4BC7-BE80-31E69BF3B7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8BE71AA-C353-4E10-B184-9F67FAA7FF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O_iyiW3t_aA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youtu.be/fXpWLqS6rg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7132320" y="-1097280"/>
            <a:ext cx="3200040" cy="320004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589520" y="-640080"/>
            <a:ext cx="2285640" cy="2285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7772400" y="3474720"/>
            <a:ext cx="2011320" cy="201132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914400"/>
            <a:ext cx="64004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ROOMIE</a:t>
            </a:r>
            <a:endParaRPr lang="es-ES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57200" y="2286000"/>
            <a:ext cx="2925720" cy="5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457200" y="2423160"/>
            <a:ext cx="6857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Plataforma de alquiler de habitaciones para estudiantes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57200" y="3291840"/>
            <a:ext cx="6857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Adrián Geada · Eric Ramos · Denis Rico · Ángel Rocamora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457200" y="438912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Proyecto Intermodular · IES Mutxamel</a:t>
            </a:r>
            <a:endParaRPr lang="es-E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PROBLEMA PLANTEADO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65760" y="658440"/>
            <a:ext cx="8412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Encontrar habitación siendo estudiante es difícil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274320" y="1463040"/>
            <a:ext cx="2742840" cy="2559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1280160" y="1600200"/>
            <a:ext cx="731160" cy="7311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0" descr="preencoded.png"/>
          <p:cNvPicPr/>
          <p:nvPr/>
        </p:nvPicPr>
        <p:blipFill>
          <a:blip r:embed="rId3"/>
          <a:stretch/>
        </p:blipFill>
        <p:spPr>
          <a:xfrm>
            <a:off x="1486080" y="178308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411480" y="24231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Oferta escasa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411480" y="2834640"/>
            <a:ext cx="246852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Los grandes portales (Idealista, Fotocasa) ofertan en su gran mayoría pisos enteros. No habitaciones sueltas.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3227760" y="1463040"/>
            <a:ext cx="2742840" cy="2559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4233600" y="1600200"/>
            <a:ext cx="731160" cy="7311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" name="Image 1" descr="preencoded.png"/>
          <p:cNvPicPr/>
          <p:nvPr/>
        </p:nvPicPr>
        <p:blipFill>
          <a:blip r:embed="rId4"/>
          <a:stretch/>
        </p:blipFill>
        <p:spPr>
          <a:xfrm>
            <a:off x="4439520" y="182880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Text 9"/>
          <p:cNvSpPr/>
          <p:nvPr/>
        </p:nvSpPr>
        <p:spPr>
          <a:xfrm>
            <a:off x="3364920" y="24231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Público no especializado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3364920" y="2834640"/>
            <a:ext cx="246852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Ningún portal está enfocado 100% en habitaciones estudiantiles cerca de universidades.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6181200" y="1463040"/>
            <a:ext cx="2742840" cy="2559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Shape 12"/>
          <p:cNvSpPr/>
          <p:nvPr/>
        </p:nvSpPr>
        <p:spPr>
          <a:xfrm>
            <a:off x="7187040" y="1600200"/>
            <a:ext cx="731160" cy="7311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" name="Image 2" descr="preencoded.png"/>
          <p:cNvPicPr/>
          <p:nvPr/>
        </p:nvPicPr>
        <p:blipFill>
          <a:blip r:embed="rId5"/>
          <a:stretch/>
        </p:blipFill>
        <p:spPr>
          <a:xfrm>
            <a:off x="7392960" y="1836720"/>
            <a:ext cx="319680" cy="31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3"/>
          <p:cNvSpPr/>
          <p:nvPr/>
        </p:nvSpPr>
        <p:spPr>
          <a:xfrm>
            <a:off x="6318360" y="24231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Riesgo de fraude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6318360" y="2834640"/>
            <a:ext cx="246852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Los jóvenes sin experiencia son vulnerables a abusos de arrendadores y prácticas desleales.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5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Text 16"/>
          <p:cNvSpPr/>
          <p:nvPr/>
        </p:nvSpPr>
        <p:spPr>
          <a:xfrm>
            <a:off x="365760" y="466344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Competidores actuales: Idealista · Fotocasa 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6858000" y="1371600"/>
            <a:ext cx="3657240" cy="365724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Text 1"/>
          <p:cNvSpPr/>
          <p:nvPr/>
        </p:nvSpPr>
        <p:spPr>
          <a:xfrm>
            <a:off x="457200" y="16956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OBJETIVOS DEL PROYECTO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457200" y="480600"/>
            <a:ext cx="64004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¿Qué queremos conseguir?</a:t>
            </a:r>
            <a:endParaRPr lang="es-E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402480" y="100944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4"/>
          <p:cNvSpPr/>
          <p:nvPr/>
        </p:nvSpPr>
        <p:spPr>
          <a:xfrm>
            <a:off x="402480" y="106416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01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996840" y="106416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Plataforma web enfocada exclusivamente en habitaciones estudiantiles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6"/>
          <p:cNvSpPr/>
          <p:nvPr/>
        </p:nvSpPr>
        <p:spPr>
          <a:xfrm>
            <a:off x="402480" y="167688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7"/>
          <p:cNvSpPr/>
          <p:nvPr/>
        </p:nvSpPr>
        <p:spPr>
          <a:xfrm>
            <a:off x="402480" y="173160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02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960120" y="303084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Búsqueda de habitaciones con filtros: precio, tipo y servicios incluidos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402480" y="234432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402480" y="239940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03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2"/>
          <p:cNvSpPr/>
          <p:nvPr/>
        </p:nvSpPr>
        <p:spPr>
          <a:xfrm>
            <a:off x="402480" y="3011760"/>
            <a:ext cx="475200" cy="475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3"/>
          <p:cNvSpPr/>
          <p:nvPr/>
        </p:nvSpPr>
        <p:spPr>
          <a:xfrm>
            <a:off x="402480" y="306684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04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4"/>
          <p:cNvSpPr/>
          <p:nvPr/>
        </p:nvSpPr>
        <p:spPr>
          <a:xfrm>
            <a:off x="1019520" y="241668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Panel de administración CRUD con JavaFX + SQL Server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5"/>
          <p:cNvSpPr/>
          <p:nvPr/>
        </p:nvSpPr>
        <p:spPr>
          <a:xfrm>
            <a:off x="402480" y="3679560"/>
            <a:ext cx="475200" cy="475200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16"/>
          <p:cNvSpPr/>
          <p:nvPr/>
        </p:nvSpPr>
        <p:spPr>
          <a:xfrm>
            <a:off x="402480" y="373428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05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7"/>
          <p:cNvSpPr/>
          <p:nvPr/>
        </p:nvSpPr>
        <p:spPr>
          <a:xfrm>
            <a:off x="994320" y="437256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Proteger al estudiante de fraudes y prácticas abusivas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1031040" y="170784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Fácil de crear anuncios como propietario y pedir visitas como inquilino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5"/>
          <p:cNvSpPr/>
          <p:nvPr/>
        </p:nvSpPr>
        <p:spPr>
          <a:xfrm>
            <a:off x="402480" y="4355280"/>
            <a:ext cx="475200" cy="475200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402480" y="4410000"/>
            <a:ext cx="475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06</a:t>
            </a:r>
            <a:endParaRPr lang="es-E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983160" y="3738960"/>
            <a:ext cx="5851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Búsqueda de habitaciones usando mapa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SOLUCIÓN DESARROLLADA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365760" y="62172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3"/>
          <p:cNvSpPr/>
          <p:nvPr/>
        </p:nvSpPr>
        <p:spPr>
          <a:xfrm>
            <a:off x="384120" y="68976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Funcionalidades clave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402480" y="118332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 5"/>
          <p:cNvSpPr/>
          <p:nvPr/>
        </p:nvSpPr>
        <p:spPr>
          <a:xfrm>
            <a:off x="713160" y="109188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Registro como inquilino o arrendador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6"/>
          <p:cNvSpPr/>
          <p:nvPr/>
        </p:nvSpPr>
        <p:spPr>
          <a:xfrm>
            <a:off x="402480" y="165888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7"/>
          <p:cNvSpPr/>
          <p:nvPr/>
        </p:nvSpPr>
        <p:spPr>
          <a:xfrm>
            <a:off x="713160" y="156744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Búsqueda y filtro de habitaciones (precio, tipo, extras)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8"/>
          <p:cNvSpPr/>
          <p:nvPr/>
        </p:nvSpPr>
        <p:spPr>
          <a:xfrm>
            <a:off x="402480" y="213444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9"/>
          <p:cNvSpPr/>
          <p:nvPr/>
        </p:nvSpPr>
        <p:spPr>
          <a:xfrm>
            <a:off x="713160" y="204300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Modal de detalle con fotos y características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0"/>
          <p:cNvSpPr/>
          <p:nvPr/>
        </p:nvSpPr>
        <p:spPr>
          <a:xfrm>
            <a:off x="402480" y="261000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713160" y="251856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Solicitud de visita directa desde la web por los inquilinos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402480" y="308556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713160" y="299412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Creación y publicación de habitaciones por los arrendadores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7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365760" y="4663440"/>
            <a:ext cx="82292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s-E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🖥️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s-ES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https://roomie-web-blue.vercel.app/index.html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402480" y="355716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713160" y="346572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Login con reconocimiento facial (Teachable Machine)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2"/>
          <p:cNvSpPr/>
          <p:nvPr/>
        </p:nvSpPr>
        <p:spPr>
          <a:xfrm>
            <a:off x="402480" y="4038480"/>
            <a:ext cx="200880" cy="200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3"/>
          <p:cNvSpPr/>
          <p:nvPr/>
        </p:nvSpPr>
        <p:spPr>
          <a:xfrm>
            <a:off x="694800" y="4047840"/>
            <a:ext cx="438876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App funcional para insertar, actualizar, ver y eliminar datos de la base de datos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Imagen 35"/>
          <p:cNvPicPr/>
          <p:nvPr/>
        </p:nvPicPr>
        <p:blipFill>
          <a:blip r:embed="rId3"/>
          <a:stretch/>
        </p:blipFill>
        <p:spPr>
          <a:xfrm>
            <a:off x="4572000" y="1164240"/>
            <a:ext cx="3927600" cy="1733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DIAGRAMA DE ARQUITECTURA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Imagen 30"/>
          <p:cNvPicPr/>
          <p:nvPr/>
        </p:nvPicPr>
        <p:blipFill>
          <a:blip r:embed="rId3"/>
          <a:stretch/>
        </p:blipFill>
        <p:spPr>
          <a:xfrm>
            <a:off x="1231200" y="823320"/>
            <a:ext cx="6498720" cy="412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Rectángulo 31"/>
          <p:cNvSpPr/>
          <p:nvPr/>
        </p:nvSpPr>
        <p:spPr>
          <a:xfrm>
            <a:off x="0" y="502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Rectángulo 32"/>
          <p:cNvSpPr/>
          <p:nvPr/>
        </p:nvSpPr>
        <p:spPr>
          <a:xfrm>
            <a:off x="7987320" y="493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CASOS DE USO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ángulo 31"/>
          <p:cNvSpPr/>
          <p:nvPr/>
        </p:nvSpPr>
        <p:spPr>
          <a:xfrm>
            <a:off x="0" y="502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ángulo 32"/>
          <p:cNvSpPr/>
          <p:nvPr/>
        </p:nvSpPr>
        <p:spPr>
          <a:xfrm>
            <a:off x="7987320" y="493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73C30C-7370-F0FF-7CEB-B9AF9377DB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126" y="518151"/>
            <a:ext cx="5590310" cy="460848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 1"/>
          <p:cNvSpPr/>
          <p:nvPr/>
        </p:nvSpPr>
        <p:spPr>
          <a:xfrm>
            <a:off x="365760" y="73080"/>
            <a:ext cx="4728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BASE DE DATOS	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ángulo 32"/>
          <p:cNvSpPr/>
          <p:nvPr/>
        </p:nvSpPr>
        <p:spPr>
          <a:xfrm>
            <a:off x="6668640" y="493920"/>
            <a:ext cx="247500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n 5"/>
          <p:cNvPicPr/>
          <p:nvPr/>
        </p:nvPicPr>
        <p:blipFill>
          <a:blip r:embed="rId3"/>
          <a:stretch/>
        </p:blipFill>
        <p:spPr>
          <a:xfrm>
            <a:off x="45720" y="773280"/>
            <a:ext cx="6571800" cy="429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CuadroTexto 6"/>
          <p:cNvSpPr/>
          <p:nvPr/>
        </p:nvSpPr>
        <p:spPr>
          <a:xfrm>
            <a:off x="6720840" y="694440"/>
            <a:ext cx="2324880" cy="375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USER (TENANT/OWNER)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PROPERTY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CONTRACT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ROOM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FURNITURE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CITY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PROVINCE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INSTITUTION</a:t>
            </a:r>
            <a:br>
              <a:rPr sz="1400"/>
            </a:b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89C98"/>
              </a:buClr>
              <a:buFont typeface="OpenSymbol"/>
              <a:buChar char="-"/>
            </a:pPr>
            <a:r>
              <a:rPr lang="es-ES" sz="1400" b="0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“CONTRACT”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adroTexto 8"/>
          <p:cNvSpPr/>
          <p:nvPr/>
        </p:nvSpPr>
        <p:spPr>
          <a:xfrm>
            <a:off x="7080120" y="67680"/>
            <a:ext cx="24750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>
                <a:solidFill>
                  <a:srgbClr val="189C98"/>
                </a:solidFill>
                <a:effectLst/>
                <a:uFillTx/>
                <a:latin typeface="Calibri"/>
              </a:rPr>
              <a:t>ENTIDADES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ARQUITECTURA Y DISEÑO DEL SISTEMA: DIAGRAMA DE CLASES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ectángulo 31"/>
          <p:cNvSpPr/>
          <p:nvPr/>
        </p:nvSpPr>
        <p:spPr>
          <a:xfrm>
            <a:off x="0" y="502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Rectángulo 32"/>
          <p:cNvSpPr/>
          <p:nvPr/>
        </p:nvSpPr>
        <p:spPr>
          <a:xfrm>
            <a:off x="7987320" y="493920"/>
            <a:ext cx="1156320" cy="4640400"/>
          </a:xfrm>
          <a:prstGeom prst="rect">
            <a:avLst/>
          </a:prstGeom>
          <a:solidFill>
            <a:srgbClr val="1A234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Imagen 5"/>
          <p:cNvPicPr/>
          <p:nvPr/>
        </p:nvPicPr>
        <p:blipFill>
          <a:blip r:embed="rId3"/>
          <a:stretch/>
        </p:blipFill>
        <p:spPr>
          <a:xfrm>
            <a:off x="2087640" y="502920"/>
            <a:ext cx="4428360" cy="4631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TECNOLOGÍAS UTILIZADAS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"/>
          <p:cNvSpPr/>
          <p:nvPr/>
        </p:nvSpPr>
        <p:spPr>
          <a:xfrm>
            <a:off x="320040" y="6858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320040" y="685800"/>
            <a:ext cx="2742840" cy="91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457200" y="8503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FRONTEND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457200" y="11246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HTML + CSS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457200" y="16459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Estructura y diseño visual de la web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"/>
          <p:cNvSpPr/>
          <p:nvPr/>
        </p:nvSpPr>
        <p:spPr>
          <a:xfrm>
            <a:off x="3246120" y="6858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Shape 8"/>
          <p:cNvSpPr/>
          <p:nvPr/>
        </p:nvSpPr>
        <p:spPr>
          <a:xfrm>
            <a:off x="3246120" y="685800"/>
            <a:ext cx="2742840" cy="91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3383280" y="8503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FRONTEND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3383280" y="11246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JavaScript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3383280" y="16459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Interactividad, filtros y Local Storage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2"/>
          <p:cNvSpPr/>
          <p:nvPr/>
        </p:nvSpPr>
        <p:spPr>
          <a:xfrm>
            <a:off x="6172200" y="6858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Shape 13"/>
          <p:cNvSpPr/>
          <p:nvPr/>
        </p:nvSpPr>
        <p:spPr>
          <a:xfrm>
            <a:off x="6172200" y="685800"/>
            <a:ext cx="2742840" cy="91080"/>
          </a:xfrm>
          <a:prstGeom prst="rect">
            <a:avLst/>
          </a:prstGeom>
          <a:solidFill>
            <a:srgbClr val="0070C0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6309360" y="8503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070C0"/>
                </a:solidFill>
                <a:effectLst/>
                <a:uFillTx/>
                <a:latin typeface="Trebuchet MS"/>
                <a:ea typeface="Trebuchet MS"/>
              </a:rPr>
              <a:t>HOSTING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5"/>
          <p:cNvSpPr/>
          <p:nvPr/>
        </p:nvSpPr>
        <p:spPr>
          <a:xfrm>
            <a:off x="6309360" y="11246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Vercel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6"/>
          <p:cNvSpPr/>
          <p:nvPr/>
        </p:nvSpPr>
        <p:spPr>
          <a:xfrm>
            <a:off x="6309360" y="16459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Despliegue en la nube del frontend usando el repositorio de GitHub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320040" y="25146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Shape 18"/>
          <p:cNvSpPr/>
          <p:nvPr/>
        </p:nvSpPr>
        <p:spPr>
          <a:xfrm>
            <a:off x="320040" y="2514600"/>
            <a:ext cx="2742840" cy="910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 19"/>
          <p:cNvSpPr/>
          <p:nvPr/>
        </p:nvSpPr>
        <p:spPr>
          <a:xfrm>
            <a:off x="457200" y="26791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97316"/>
                </a:solidFill>
                <a:effectLst/>
                <a:uFillTx/>
                <a:latin typeface="Trebuchet MS"/>
                <a:ea typeface="Trebuchet MS"/>
              </a:rPr>
              <a:t>BACKEND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0"/>
          <p:cNvSpPr/>
          <p:nvPr/>
        </p:nvSpPr>
        <p:spPr>
          <a:xfrm>
            <a:off x="457200" y="29534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Java + JavaFX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1"/>
          <p:cNvSpPr/>
          <p:nvPr/>
        </p:nvSpPr>
        <p:spPr>
          <a:xfrm>
            <a:off x="457200" y="34747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App CRUD para administración de la BD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2"/>
          <p:cNvSpPr/>
          <p:nvPr/>
        </p:nvSpPr>
        <p:spPr>
          <a:xfrm>
            <a:off x="3246120" y="25146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" name="Shape 23"/>
          <p:cNvSpPr/>
          <p:nvPr/>
        </p:nvSpPr>
        <p:spPr>
          <a:xfrm>
            <a:off x="3246120" y="2514600"/>
            <a:ext cx="2742840" cy="910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24"/>
          <p:cNvSpPr/>
          <p:nvPr/>
        </p:nvSpPr>
        <p:spPr>
          <a:xfrm>
            <a:off x="3383280" y="26791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97316"/>
                </a:solidFill>
                <a:effectLst/>
                <a:uFillTx/>
                <a:latin typeface="Trebuchet MS"/>
                <a:ea typeface="Trebuchet MS"/>
              </a:rPr>
              <a:t>BASE DE DATOS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5"/>
          <p:cNvSpPr/>
          <p:nvPr/>
        </p:nvSpPr>
        <p:spPr>
          <a:xfrm>
            <a:off x="3383280" y="29534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SQL Server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6"/>
          <p:cNvSpPr/>
          <p:nvPr/>
        </p:nvSpPr>
        <p:spPr>
          <a:xfrm>
            <a:off x="3383280" y="34747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Creación de BD e inserción de datos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7"/>
          <p:cNvSpPr/>
          <p:nvPr/>
        </p:nvSpPr>
        <p:spPr>
          <a:xfrm>
            <a:off x="6172200" y="2514600"/>
            <a:ext cx="2742840" cy="1599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7674" dir="81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Shape 28"/>
          <p:cNvSpPr/>
          <p:nvPr/>
        </p:nvSpPr>
        <p:spPr>
          <a:xfrm>
            <a:off x="6172200" y="2514600"/>
            <a:ext cx="2742840" cy="910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 29"/>
          <p:cNvSpPr/>
          <p:nvPr/>
        </p:nvSpPr>
        <p:spPr>
          <a:xfrm>
            <a:off x="6309360" y="26791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Trebuchet MS"/>
                <a:ea typeface="Trebuchet MS"/>
              </a:rPr>
              <a:t> EXTRAS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0"/>
          <p:cNvSpPr/>
          <p:nvPr/>
        </p:nvSpPr>
        <p:spPr>
          <a:xfrm>
            <a:off x="6309360" y="295344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2340"/>
                </a:solidFill>
                <a:effectLst/>
                <a:uFillTx/>
                <a:latin typeface="Trebuchet MS"/>
                <a:ea typeface="Trebuchet MS"/>
              </a:rPr>
              <a:t>Teachable Machine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1"/>
          <p:cNvSpPr/>
          <p:nvPr/>
        </p:nvSpPr>
        <p:spPr>
          <a:xfrm>
            <a:off x="6309360" y="3474720"/>
            <a:ext cx="2468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Reconocimiento facial para login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2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33"/>
          <p:cNvSpPr/>
          <p:nvPr/>
        </p:nvSpPr>
        <p:spPr>
          <a:xfrm>
            <a:off x="365760" y="466344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Herramientas: IntelliJ IDEA · VS Code · GitHub · Sourcetree · Trello · Draw.io · SQL Server Management Studio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0"/>
          <p:cNvSpPr/>
          <p:nvPr/>
        </p:nvSpPr>
        <p:spPr>
          <a:xfrm>
            <a:off x="5943600" y="-457200"/>
            <a:ext cx="4571640" cy="457164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Shape 1"/>
          <p:cNvSpPr/>
          <p:nvPr/>
        </p:nvSpPr>
        <p:spPr>
          <a:xfrm>
            <a:off x="0" y="0"/>
            <a:ext cx="5486040" cy="502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365760" y="7308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Trebuchet MS"/>
                <a:ea typeface="Trebuchet MS"/>
              </a:rPr>
              <a:t>CONCLUSIONES</a:t>
            </a:r>
            <a:endParaRPr lang="es-E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365760" y="64008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✅  Logros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365760" y="108828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567000" y="9784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Web funcional con reconocimiento facial, filtros y solicitud de visitas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6"/>
          <p:cNvSpPr/>
          <p:nvPr/>
        </p:nvSpPr>
        <p:spPr>
          <a:xfrm>
            <a:off x="365760" y="147672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567000" y="136692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Base de datos completa con triggers y app JavaFX de administración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8"/>
          <p:cNvSpPr/>
          <p:nvPr/>
        </p:nvSpPr>
        <p:spPr>
          <a:xfrm>
            <a:off x="365760" y="188820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 9"/>
          <p:cNvSpPr/>
          <p:nvPr/>
        </p:nvSpPr>
        <p:spPr>
          <a:xfrm>
            <a:off x="567000" y="17784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Simulación de conexión frontend–backend con Local Storage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0"/>
          <p:cNvSpPr/>
          <p:nvPr/>
        </p:nvSpPr>
        <p:spPr>
          <a:xfrm>
            <a:off x="365760" y="2277000"/>
            <a:ext cx="54360" cy="273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567000" y="21672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Metodología Kanban aplicada en todo el desarrollo con Trello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2"/>
          <p:cNvSpPr/>
          <p:nvPr/>
        </p:nvSpPr>
        <p:spPr>
          <a:xfrm>
            <a:off x="329040" y="2752200"/>
            <a:ext cx="54860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97316"/>
                </a:solidFill>
                <a:effectLst/>
                <a:uFillTx/>
                <a:latin typeface="Trebuchet MS"/>
                <a:ea typeface="Trebuchet MS"/>
              </a:rPr>
              <a:t>⚡  Pendiente y mejoras futuras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3"/>
          <p:cNvSpPr/>
          <p:nvPr/>
        </p:nvSpPr>
        <p:spPr>
          <a:xfrm>
            <a:off x="365760" y="327348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14"/>
          <p:cNvSpPr/>
          <p:nvPr/>
        </p:nvSpPr>
        <p:spPr>
          <a:xfrm>
            <a:off x="676800" y="318204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Conexión real frontend backend 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5"/>
          <p:cNvSpPr/>
          <p:nvPr/>
        </p:nvSpPr>
        <p:spPr>
          <a:xfrm>
            <a:off x="365760" y="363492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 16"/>
          <p:cNvSpPr/>
          <p:nvPr/>
        </p:nvSpPr>
        <p:spPr>
          <a:xfrm>
            <a:off x="676800" y="354960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Búsqueda por mapa interactivo (API Maps)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"/>
          <p:cNvSpPr/>
          <p:nvPr/>
        </p:nvSpPr>
        <p:spPr>
          <a:xfrm>
            <a:off x="365760" y="400824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18"/>
          <p:cNvSpPr/>
          <p:nvPr/>
        </p:nvSpPr>
        <p:spPr>
          <a:xfrm>
            <a:off x="676800" y="391680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App móvil con Flutter / Android Studio (CRM)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5"/>
          <p:cNvSpPr/>
          <p:nvPr/>
        </p:nvSpPr>
        <p:spPr>
          <a:xfrm>
            <a:off x="365760" y="436464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 16"/>
          <p:cNvSpPr/>
          <p:nvPr/>
        </p:nvSpPr>
        <p:spPr>
          <a:xfrm>
            <a:off x="676800" y="427932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Función para firmar contratos desde la App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5"/>
          <p:cNvSpPr/>
          <p:nvPr/>
        </p:nvSpPr>
        <p:spPr>
          <a:xfrm>
            <a:off x="365760" y="4727160"/>
            <a:ext cx="200880" cy="20088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 16"/>
          <p:cNvSpPr/>
          <p:nvPr/>
        </p:nvSpPr>
        <p:spPr>
          <a:xfrm>
            <a:off x="676800" y="4641840"/>
            <a:ext cx="51202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Función para controlar el depósito del alquiler y evitar fraudes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9143640" cy="50256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365760" y="730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VIDEO DEMO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32"/>
          <p:cNvSpPr/>
          <p:nvPr/>
        </p:nvSpPr>
        <p:spPr>
          <a:xfrm>
            <a:off x="0" y="4617720"/>
            <a:ext cx="9143640" cy="52560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CuadroTexto 4"/>
          <p:cNvSpPr/>
          <p:nvPr/>
        </p:nvSpPr>
        <p:spPr>
          <a:xfrm>
            <a:off x="2766960" y="1310040"/>
            <a:ext cx="33768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Link a video 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youtube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</a:rPr>
              <a:t> página web</a:t>
            </a:r>
            <a:r>
              <a:rPr lang="es-ES" sz="1800" b="0" u="sng" strike="noStrike">
                <a:solidFill>
                  <a:schemeClr val="lt1"/>
                </a:solidFill>
                <a:effectLst/>
                <a:uFillTx/>
                <a:latin typeface="Calibri"/>
                <a:hlinkClick r:id="rId3"/>
              </a:rPr>
              <a:t> 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adroTexto 2"/>
          <p:cNvSpPr/>
          <p:nvPr/>
        </p:nvSpPr>
        <p:spPr>
          <a:xfrm>
            <a:off x="2950560" y="2214360"/>
            <a:ext cx="33768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Link a video 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4"/>
              </a:rPr>
              <a:t>youtube</a:t>
            </a:r>
            <a:r>
              <a:rPr lang="es-ES" sz="1800" b="0" u="sng" strike="noStrike">
                <a:solidFill>
                  <a:srgbClr val="0563C1"/>
                </a:solidFill>
                <a:effectLst/>
                <a:uFillTx/>
                <a:latin typeface="Calibri"/>
              </a:rPr>
              <a:t> JavaFX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509</Words>
  <Application>Microsoft Office PowerPoint</Application>
  <PresentationFormat>Presentación en pantalla (16:9)</PresentationFormat>
  <Paragraphs>97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Arial</vt:lpstr>
      <vt:lpstr>Calibri</vt:lpstr>
      <vt:lpstr>OpenSymbol</vt:lpstr>
      <vt:lpstr>Symbol</vt:lpstr>
      <vt:lpstr>Times New Roman</vt:lpstr>
      <vt:lpstr>Trebuchet MS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Roomie - Proyecto Intermodular</dc:title>
  <dc:subject>PptxGenJS Presentation</dc:subject>
  <dc:creator>PptxGenJS</dc:creator>
  <dc:description/>
  <cp:lastModifiedBy>GEADA ORTS, ADRIÁN</cp:lastModifiedBy>
  <cp:revision>7</cp:revision>
  <dcterms:created xsi:type="dcterms:W3CDTF">2026-05-17T16:07:42Z</dcterms:created>
  <dcterms:modified xsi:type="dcterms:W3CDTF">2026-05-31T18:06:39Z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Presentación en pantalla (16:9)</vt:lpwstr>
  </property>
  <property fmtid="{D5CDD505-2E9C-101B-9397-08002B2CF9AE}" pid="4" name="Slides">
    <vt:i4>11</vt:i4>
  </property>
</Properties>
</file>