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theme/theme2.xml" ContentType="application/vnd.openxmlformats-officedocument.theme+xml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Masters/slideMaster1.xml" ContentType="application/vnd.openxmlformats-officedocument.presentationml.slide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slideLayouts/slideLayout1.xml" ContentType="application/vnd.openxmlformats-officedocument.presentationml.slideLayout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</p:sldIdLst>
  <p:sldSz cx="9144000" cy="5143500"/>
  <p:notesSz cx="5143500" cy="9144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lang="es-E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desplazar la diapositiva</a:t>
            </a:r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las notas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E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E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E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336E3224-0327-47E9-B8CE-9FE20820241E}" type="slidenum"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es-E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6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PlaceHolder 3"/>
          <p:cNvSpPr>
            <a:spLocks noGrp="1"/>
          </p:cNvSpPr>
          <p:nvPr>
            <p:ph type="sldNum" idx="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D3BBADD8-2FA2-4B0E-893F-A8E1B5EB51E8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&lt;número&gt;</a:t>
            </a:fld>
            <a:endParaRPr lang="es-E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6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PlaceHolder 3"/>
          <p:cNvSpPr>
            <a:spLocks noGrp="1"/>
          </p:cNvSpPr>
          <p:nvPr>
            <p:ph type="sldNum" idx="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C949A7F6-619F-4E59-BEB2-A91EEF7A8391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&lt;número&gt;</a:t>
            </a:fld>
            <a:endParaRPr lang="es-E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7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PlaceHolder 3"/>
          <p:cNvSpPr>
            <a:spLocks noGrp="1"/>
          </p:cNvSpPr>
          <p:nvPr>
            <p:ph type="sldNum" idx="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D5AE2B3A-9A57-4139-B8F7-D379A9B570AD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&lt;número&gt;</a:t>
            </a:fld>
            <a:endParaRPr lang="es-E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7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" name="PlaceHolder 3"/>
          <p:cNvSpPr>
            <a:spLocks noGrp="1"/>
          </p:cNvSpPr>
          <p:nvPr>
            <p:ph type="sldNum" idx="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62A5D4B1-6F42-4042-B8BF-C147031BDA6E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&lt;número&gt;</a:t>
            </a:fld>
            <a:endParaRPr lang="es-E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7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PlaceHolder 3"/>
          <p:cNvSpPr>
            <a:spLocks noGrp="1"/>
          </p:cNvSpPr>
          <p:nvPr>
            <p:ph type="sldNum" idx="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34C655BF-27E3-4BED-9E26-32EC88A5173A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&lt;número&gt;</a:t>
            </a:fld>
            <a:endParaRPr lang="es-E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8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" name="PlaceHolder 3"/>
          <p:cNvSpPr>
            <a:spLocks noGrp="1"/>
          </p:cNvSpPr>
          <p:nvPr>
            <p:ph type="sldNum" idx="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49F0D031-9B94-49B9-9AE7-9219F1594A04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&lt;número&gt;</a:t>
            </a:fld>
            <a:endParaRPr lang="es-E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8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PlaceHolder 3"/>
          <p:cNvSpPr>
            <a:spLocks noGrp="1"/>
          </p:cNvSpPr>
          <p:nvPr>
            <p:ph type="sldNum" idx="1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386046E8-46F5-4933-BC8F-28E55DDE8E67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&lt;número&gt;</a:t>
            </a:fld>
            <a:endParaRPr lang="es-E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8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7" name="PlaceHolder 3"/>
          <p:cNvSpPr>
            <a:spLocks noGrp="1"/>
          </p:cNvSpPr>
          <p:nvPr>
            <p:ph type="sldNum" idx="1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0AF0E11C-48AC-40F3-9DA2-267411336B53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&lt;número&gt;</a:t>
            </a:fld>
            <a:endParaRPr lang="es-E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8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PlaceHolder 3"/>
          <p:cNvSpPr>
            <a:spLocks noGrp="1"/>
          </p:cNvSpPr>
          <p:nvPr>
            <p:ph type="sldNum" idx="1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EFD7AA36-CD45-48B5-872E-521CE726FD2B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&lt;número&gt;</a:t>
            </a:fld>
            <a:endParaRPr lang="es-E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9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PlaceHolder 3"/>
          <p:cNvSpPr>
            <a:spLocks noGrp="1"/>
          </p:cNvSpPr>
          <p:nvPr>
            <p:ph type="sldNum" idx="1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01222DAB-9271-4BC7-BE80-31E69BF3B7B9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&lt;número&gt;</a:t>
            </a:fld>
            <a:endParaRPr lang="es-E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9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PlaceHolder 3"/>
          <p:cNvSpPr>
            <a:spLocks noGrp="1"/>
          </p:cNvSpPr>
          <p:nvPr>
            <p:ph type="sldNum" idx="1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E8BE71AA-C353-4E10-B184-9F67FAA7FF6F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&lt;número&gt;</a:t>
            </a:fld>
            <a:endParaRPr lang="es-E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lang="es-E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del texto de título</a:t>
            </a:r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E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  <a:endParaRPr lang="es-E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s-E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  <a:endParaRPr lang="es-E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E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  <a:endParaRPr lang="es-E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s-E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  <a:endParaRPr lang="es-E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E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  <a:endParaRPr lang="es-E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E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  <a:endParaRPr lang="es-E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E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  <a:endParaRPr lang="es-E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hyperlink" Target="https://youtu.be/O_iyiW3t_aA" TargetMode="External"/><Relationship Id="rId2" Type="http://schemas.openxmlformats.org/officeDocument/2006/relationships/hyperlink" Target="https://youtu.be/O_iyiW3t_aA" TargetMode="External"/><Relationship Id="rId3" Type="http://schemas.openxmlformats.org/officeDocument/2006/relationships/hyperlink" Target="https://youtu.be/O_iyiW3t_aA" TargetMode="External"/><Relationship Id="rId4" Type="http://schemas.openxmlformats.org/officeDocument/2006/relationships/hyperlink" Target="https://youtu.be/O_iyiW3t_aA" TargetMode="External"/><Relationship Id="rId5" Type="http://schemas.openxmlformats.org/officeDocument/2006/relationships/hyperlink" Target="https://youtu.be/fXpWLqS6rg0" TargetMode="External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23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0"/>
          <p:cNvSpPr/>
          <p:nvPr/>
        </p:nvSpPr>
        <p:spPr>
          <a:xfrm>
            <a:off x="0" y="0"/>
            <a:ext cx="200880" cy="51433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" name="Shape 1"/>
          <p:cNvSpPr/>
          <p:nvPr/>
        </p:nvSpPr>
        <p:spPr>
          <a:xfrm>
            <a:off x="7132320" y="-1097280"/>
            <a:ext cx="3200040" cy="3200040"/>
          </a:xfrm>
          <a:prstGeom prst="ellipse">
            <a:avLst/>
          </a:prstGeom>
          <a:solidFill>
            <a:srgbClr val="243562"/>
          </a:solidFill>
          <a:ln w="12700">
            <a:solidFill>
              <a:srgbClr val="24356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" name="Shape 2"/>
          <p:cNvSpPr/>
          <p:nvPr/>
        </p:nvSpPr>
        <p:spPr>
          <a:xfrm>
            <a:off x="7589520" y="-640080"/>
            <a:ext cx="2285640" cy="228564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" name="Shape 3"/>
          <p:cNvSpPr/>
          <p:nvPr/>
        </p:nvSpPr>
        <p:spPr>
          <a:xfrm>
            <a:off x="7772400" y="3474720"/>
            <a:ext cx="2011320" cy="2011320"/>
          </a:xfrm>
          <a:prstGeom prst="ellipse">
            <a:avLst/>
          </a:prstGeom>
          <a:solidFill>
            <a:srgbClr val="243562"/>
          </a:solidFill>
          <a:ln w="12700">
            <a:solidFill>
              <a:srgbClr val="24356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" name="Text 4"/>
          <p:cNvSpPr/>
          <p:nvPr/>
        </p:nvSpPr>
        <p:spPr>
          <a:xfrm>
            <a:off x="457200" y="914400"/>
            <a:ext cx="6400440" cy="127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200" b="1" u="none" strike="noStrike">
                <a:solidFill>
                  <a:srgbClr val="ffffff"/>
                </a:solidFill>
                <a:effectLst/>
                <a:uFillTx/>
                <a:latin typeface="Trebuchet MS"/>
                <a:ea typeface="Trebuchet MS"/>
              </a:rPr>
              <a:t>ROOMIE</a:t>
            </a:r>
            <a:endParaRPr lang="es-ES" sz="7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" name="Shape 5"/>
          <p:cNvSpPr/>
          <p:nvPr/>
        </p:nvSpPr>
        <p:spPr>
          <a:xfrm>
            <a:off x="457200" y="2286000"/>
            <a:ext cx="2925720" cy="5436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720" bIns="9720" anchor="t">
            <a:noAutofit/>
          </a:bodyPr>
          <a:p>
            <a:pPr defTabSz="914400">
              <a:lnSpc>
                <a:spcPct val="100000"/>
              </a:lnSpc>
            </a:pPr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" name="Text 6"/>
          <p:cNvSpPr/>
          <p:nvPr/>
        </p:nvSpPr>
        <p:spPr>
          <a:xfrm>
            <a:off x="457200" y="2423160"/>
            <a:ext cx="68576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800" b="0" u="none" strike="noStrike">
                <a:solidFill>
                  <a:srgbClr val="14b8a6"/>
                </a:solidFill>
                <a:effectLst/>
                <a:uFillTx/>
                <a:latin typeface="Calibri"/>
                <a:ea typeface="Calibri"/>
              </a:rPr>
              <a:t>Plataforma de alquiler de habitaciones para estudiantes</a:t>
            </a:r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" name="Text 7"/>
          <p:cNvSpPr/>
          <p:nvPr/>
        </p:nvSpPr>
        <p:spPr>
          <a:xfrm>
            <a:off x="457200" y="3291840"/>
            <a:ext cx="68576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0" u="none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Adrián Geada · Eric Ramos · Denis Rico · Ángel Rocamora</a:t>
            </a:r>
            <a:endParaRPr lang="es-E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" name="Text 8"/>
          <p:cNvSpPr/>
          <p:nvPr/>
        </p:nvSpPr>
        <p:spPr>
          <a:xfrm>
            <a:off x="457200" y="4389120"/>
            <a:ext cx="64004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Proyecto Intermodular · IES Mutxamel</a:t>
            </a:r>
            <a:endParaRPr lang="es-E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Shape 0"/>
          <p:cNvSpPr/>
          <p:nvPr/>
        </p:nvSpPr>
        <p:spPr>
          <a:xfrm>
            <a:off x="0" y="0"/>
            <a:ext cx="9143640" cy="502560"/>
          </a:xfrm>
          <a:prstGeom prst="rect">
            <a:avLst/>
          </a:prstGeom>
          <a:solidFill>
            <a:srgbClr val="1e2d55"/>
          </a:solidFill>
          <a:ln w="12700">
            <a:solidFill>
              <a:srgbClr val="1e2d5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" name="Text 1"/>
          <p:cNvSpPr/>
          <p:nvPr/>
        </p:nvSpPr>
        <p:spPr>
          <a:xfrm>
            <a:off x="365760" y="73080"/>
            <a:ext cx="822924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14b8a6"/>
                </a:solidFill>
                <a:effectLst/>
                <a:uFillTx/>
                <a:latin typeface="Trebuchet MS"/>
                <a:ea typeface="Trebuchet MS"/>
              </a:rPr>
              <a:t>PROBLEMA PLANTEADO</a:t>
            </a:r>
            <a:endParaRPr lang="es-E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Text 2"/>
          <p:cNvSpPr/>
          <p:nvPr/>
        </p:nvSpPr>
        <p:spPr>
          <a:xfrm>
            <a:off x="365760" y="658440"/>
            <a:ext cx="841212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600" b="1" u="none" strike="noStrike">
                <a:solidFill>
                  <a:srgbClr val="1a2340"/>
                </a:solidFill>
                <a:effectLst/>
                <a:uFillTx/>
                <a:latin typeface="Trebuchet MS"/>
                <a:ea typeface="Trebuchet MS"/>
              </a:rPr>
              <a:t>Encontrar habitación siendo estudiante es difícil</a:t>
            </a:r>
            <a:endParaRPr lang="es-E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Shape 3"/>
          <p:cNvSpPr/>
          <p:nvPr/>
        </p:nvSpPr>
        <p:spPr>
          <a:xfrm>
            <a:off x="274320" y="1463040"/>
            <a:ext cx="2742840" cy="2559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algn="bl" blurRad="101520" dir="8100000" dist="37674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" name="Shape 4"/>
          <p:cNvSpPr/>
          <p:nvPr/>
        </p:nvSpPr>
        <p:spPr>
          <a:xfrm>
            <a:off x="1280160" y="1600200"/>
            <a:ext cx="731160" cy="73116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24" name="Image 0" descr="preencoded.png"/>
          <p:cNvPicPr/>
          <p:nvPr/>
        </p:nvPicPr>
        <p:blipFill>
          <a:blip r:embed="rId1"/>
          <a:stretch/>
        </p:blipFill>
        <p:spPr>
          <a:xfrm>
            <a:off x="1486080" y="1783080"/>
            <a:ext cx="319680" cy="319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" name="Text 5"/>
          <p:cNvSpPr/>
          <p:nvPr/>
        </p:nvSpPr>
        <p:spPr>
          <a:xfrm>
            <a:off x="411480" y="2423160"/>
            <a:ext cx="246852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1a2340"/>
                </a:solidFill>
                <a:effectLst/>
                <a:uFillTx/>
                <a:latin typeface="Trebuchet MS"/>
                <a:ea typeface="Trebuchet MS"/>
              </a:rPr>
              <a:t>Oferta escasa</a:t>
            </a:r>
            <a:endParaRPr lang="es-E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Text 6"/>
          <p:cNvSpPr/>
          <p:nvPr/>
        </p:nvSpPr>
        <p:spPr>
          <a:xfrm>
            <a:off x="411480" y="2834640"/>
            <a:ext cx="2468520" cy="105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334155"/>
                </a:solidFill>
                <a:effectLst/>
                <a:uFillTx/>
                <a:latin typeface="Calibri"/>
                <a:ea typeface="Calibri"/>
              </a:rPr>
              <a:t>Los grandes portales (Idealista, Fotocasa) ofertan en su gran mayoría pisos enteros. No habitaciones sueltas. </a:t>
            </a:r>
            <a:endParaRPr lang="es-E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Shape 7"/>
          <p:cNvSpPr/>
          <p:nvPr/>
        </p:nvSpPr>
        <p:spPr>
          <a:xfrm>
            <a:off x="3227760" y="1463040"/>
            <a:ext cx="2742840" cy="2559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algn="bl" blurRad="101520" dir="8100000" dist="37674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8" name="Shape 8"/>
          <p:cNvSpPr/>
          <p:nvPr/>
        </p:nvSpPr>
        <p:spPr>
          <a:xfrm>
            <a:off x="4233600" y="1600200"/>
            <a:ext cx="731160" cy="73116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29" name="Image 1" descr="preencoded.png"/>
          <p:cNvPicPr/>
          <p:nvPr/>
        </p:nvPicPr>
        <p:blipFill>
          <a:blip r:embed="rId2"/>
          <a:stretch/>
        </p:blipFill>
        <p:spPr>
          <a:xfrm>
            <a:off x="4439520" y="1828800"/>
            <a:ext cx="319680" cy="319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0" name="Text 9"/>
          <p:cNvSpPr/>
          <p:nvPr/>
        </p:nvSpPr>
        <p:spPr>
          <a:xfrm>
            <a:off x="3364920" y="2423160"/>
            <a:ext cx="246852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1a2340"/>
                </a:solidFill>
                <a:effectLst/>
                <a:uFillTx/>
                <a:latin typeface="Trebuchet MS"/>
                <a:ea typeface="Trebuchet MS"/>
              </a:rPr>
              <a:t>Público no especializado</a:t>
            </a:r>
            <a:endParaRPr lang="es-E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Text 10"/>
          <p:cNvSpPr/>
          <p:nvPr/>
        </p:nvSpPr>
        <p:spPr>
          <a:xfrm>
            <a:off x="3364920" y="2834640"/>
            <a:ext cx="2468520" cy="105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334155"/>
                </a:solidFill>
                <a:effectLst/>
                <a:uFillTx/>
                <a:latin typeface="Calibri"/>
                <a:ea typeface="Calibri"/>
              </a:rPr>
              <a:t>Ningún portal está enfocado 100% en habitaciones estudiantiles cerca de universidades.</a:t>
            </a:r>
            <a:endParaRPr lang="es-E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Shape 11"/>
          <p:cNvSpPr/>
          <p:nvPr/>
        </p:nvSpPr>
        <p:spPr>
          <a:xfrm>
            <a:off x="6181200" y="1463040"/>
            <a:ext cx="2742840" cy="2559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algn="bl" blurRad="101520" dir="8100000" dist="37674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" name="Shape 12"/>
          <p:cNvSpPr/>
          <p:nvPr/>
        </p:nvSpPr>
        <p:spPr>
          <a:xfrm>
            <a:off x="7187040" y="1600200"/>
            <a:ext cx="731160" cy="73116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34" name="Image 2" descr="preencoded.png"/>
          <p:cNvPicPr/>
          <p:nvPr/>
        </p:nvPicPr>
        <p:blipFill>
          <a:blip r:embed="rId3"/>
          <a:stretch/>
        </p:blipFill>
        <p:spPr>
          <a:xfrm>
            <a:off x="7392960" y="1836720"/>
            <a:ext cx="319680" cy="319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5" name="Text 13"/>
          <p:cNvSpPr/>
          <p:nvPr/>
        </p:nvSpPr>
        <p:spPr>
          <a:xfrm>
            <a:off x="6318360" y="2423160"/>
            <a:ext cx="246852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1a2340"/>
                </a:solidFill>
                <a:effectLst/>
                <a:uFillTx/>
                <a:latin typeface="Trebuchet MS"/>
                <a:ea typeface="Trebuchet MS"/>
              </a:rPr>
              <a:t>Riesgo de fraude</a:t>
            </a:r>
            <a:endParaRPr lang="es-E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Text 14"/>
          <p:cNvSpPr/>
          <p:nvPr/>
        </p:nvSpPr>
        <p:spPr>
          <a:xfrm>
            <a:off x="6318360" y="2834640"/>
            <a:ext cx="2468520" cy="105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334155"/>
                </a:solidFill>
                <a:effectLst/>
                <a:uFillTx/>
                <a:latin typeface="Calibri"/>
                <a:ea typeface="Calibri"/>
              </a:rPr>
              <a:t>Los jóvenes sin experiencia son vulnerables a abusos de arrendadores y prácticas desleales.</a:t>
            </a:r>
            <a:endParaRPr lang="es-E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Shape 15"/>
          <p:cNvSpPr/>
          <p:nvPr/>
        </p:nvSpPr>
        <p:spPr>
          <a:xfrm>
            <a:off x="0" y="4617720"/>
            <a:ext cx="9143640" cy="525600"/>
          </a:xfrm>
          <a:prstGeom prst="rect">
            <a:avLst/>
          </a:prstGeom>
          <a:solidFill>
            <a:srgbClr val="1e2d55"/>
          </a:solidFill>
          <a:ln w="12700">
            <a:solidFill>
              <a:srgbClr val="1e2d5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8" name="Text 16"/>
          <p:cNvSpPr/>
          <p:nvPr/>
        </p:nvSpPr>
        <p:spPr>
          <a:xfrm>
            <a:off x="365760" y="4663440"/>
            <a:ext cx="841212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Competidores actuales: Idealista · Fotocasa </a:t>
            </a:r>
            <a:endParaRPr lang="es-E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e2d5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Shape 0"/>
          <p:cNvSpPr/>
          <p:nvPr/>
        </p:nvSpPr>
        <p:spPr>
          <a:xfrm>
            <a:off x="6858000" y="1371600"/>
            <a:ext cx="3657240" cy="3657240"/>
          </a:xfrm>
          <a:prstGeom prst="ellipse">
            <a:avLst/>
          </a:prstGeom>
          <a:solidFill>
            <a:srgbClr val="243562"/>
          </a:solidFill>
          <a:ln w="12700">
            <a:solidFill>
              <a:srgbClr val="24356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0" name="Text 1"/>
          <p:cNvSpPr/>
          <p:nvPr/>
        </p:nvSpPr>
        <p:spPr>
          <a:xfrm>
            <a:off x="457200" y="169560"/>
            <a:ext cx="64004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14b8a6"/>
                </a:solidFill>
                <a:effectLst/>
                <a:uFillTx/>
                <a:latin typeface="Trebuchet MS"/>
                <a:ea typeface="Trebuchet MS"/>
              </a:rPr>
              <a:t>OBJETIVOS DEL PROYECTO</a:t>
            </a:r>
            <a:endParaRPr lang="es-E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" name="Text 2"/>
          <p:cNvSpPr/>
          <p:nvPr/>
        </p:nvSpPr>
        <p:spPr>
          <a:xfrm>
            <a:off x="457200" y="480600"/>
            <a:ext cx="640044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Trebuchet MS"/>
                <a:ea typeface="Trebuchet MS"/>
              </a:rPr>
              <a:t>¿Qué queremos conseguir?</a:t>
            </a:r>
            <a:endParaRPr lang="es-E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" name="Shape 3"/>
          <p:cNvSpPr/>
          <p:nvPr/>
        </p:nvSpPr>
        <p:spPr>
          <a:xfrm>
            <a:off x="402480" y="1009440"/>
            <a:ext cx="475200" cy="4752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3" name="Text 4"/>
          <p:cNvSpPr/>
          <p:nvPr/>
        </p:nvSpPr>
        <p:spPr>
          <a:xfrm>
            <a:off x="402480" y="1064160"/>
            <a:ext cx="4752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Trebuchet MS"/>
                <a:ea typeface="Trebuchet MS"/>
              </a:rPr>
              <a:t>01</a:t>
            </a:r>
            <a:endParaRPr lang="es-E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" name="Text 5"/>
          <p:cNvSpPr/>
          <p:nvPr/>
        </p:nvSpPr>
        <p:spPr>
          <a:xfrm>
            <a:off x="996840" y="1064160"/>
            <a:ext cx="585180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0" u="none" strike="noStrik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Plataforma web enfocada exclusivamente en habitaciones estudiantiles</a:t>
            </a:r>
            <a:endParaRPr lang="es-E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" name="Shape 6"/>
          <p:cNvSpPr/>
          <p:nvPr/>
        </p:nvSpPr>
        <p:spPr>
          <a:xfrm>
            <a:off x="402480" y="1676880"/>
            <a:ext cx="475200" cy="4752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6" name="Text 7"/>
          <p:cNvSpPr/>
          <p:nvPr/>
        </p:nvSpPr>
        <p:spPr>
          <a:xfrm>
            <a:off x="402480" y="1731600"/>
            <a:ext cx="4752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Trebuchet MS"/>
                <a:ea typeface="Trebuchet MS"/>
              </a:rPr>
              <a:t>02</a:t>
            </a:r>
            <a:endParaRPr lang="es-E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" name="Text 8"/>
          <p:cNvSpPr/>
          <p:nvPr/>
        </p:nvSpPr>
        <p:spPr>
          <a:xfrm>
            <a:off x="960120" y="3030840"/>
            <a:ext cx="585180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0" u="none" strike="noStrik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Búsqueda de habitaciones con filtros: precio, tipo y servicios incluidos</a:t>
            </a:r>
            <a:endParaRPr lang="es-E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" name="Shape 9"/>
          <p:cNvSpPr/>
          <p:nvPr/>
        </p:nvSpPr>
        <p:spPr>
          <a:xfrm>
            <a:off x="402480" y="2344320"/>
            <a:ext cx="475200" cy="4752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9" name="Text 10"/>
          <p:cNvSpPr/>
          <p:nvPr/>
        </p:nvSpPr>
        <p:spPr>
          <a:xfrm>
            <a:off x="402480" y="2399400"/>
            <a:ext cx="4752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Trebuchet MS"/>
                <a:ea typeface="Trebuchet MS"/>
              </a:rPr>
              <a:t>03</a:t>
            </a:r>
            <a:endParaRPr lang="es-E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" name="Shape 12"/>
          <p:cNvSpPr/>
          <p:nvPr/>
        </p:nvSpPr>
        <p:spPr>
          <a:xfrm>
            <a:off x="402480" y="3011760"/>
            <a:ext cx="475200" cy="4752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1" name="Text 13"/>
          <p:cNvSpPr/>
          <p:nvPr/>
        </p:nvSpPr>
        <p:spPr>
          <a:xfrm>
            <a:off x="402480" y="3066840"/>
            <a:ext cx="4752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Trebuchet MS"/>
                <a:ea typeface="Trebuchet MS"/>
              </a:rPr>
              <a:t>04</a:t>
            </a:r>
            <a:endParaRPr lang="es-E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" name="Text 14"/>
          <p:cNvSpPr/>
          <p:nvPr/>
        </p:nvSpPr>
        <p:spPr>
          <a:xfrm>
            <a:off x="1019520" y="2416680"/>
            <a:ext cx="585180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0" u="none" strike="noStrik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Panel de administración CRUD con JavaFX + SQL Server</a:t>
            </a:r>
            <a:endParaRPr lang="es-E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" name="Shape 15"/>
          <p:cNvSpPr/>
          <p:nvPr/>
        </p:nvSpPr>
        <p:spPr>
          <a:xfrm>
            <a:off x="402480" y="3679560"/>
            <a:ext cx="475200" cy="475200"/>
          </a:xfrm>
          <a:prstGeom prst="rect">
            <a:avLst/>
          </a:prstGeom>
          <a:solidFill>
            <a:srgbClr val="fe6a6a"/>
          </a:solidFill>
          <a:ln w="12700">
            <a:solidFill>
              <a:srgbClr val="fe6a6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4" name="Text 16"/>
          <p:cNvSpPr/>
          <p:nvPr/>
        </p:nvSpPr>
        <p:spPr>
          <a:xfrm>
            <a:off x="402480" y="3734280"/>
            <a:ext cx="4752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Trebuchet MS"/>
                <a:ea typeface="Trebuchet MS"/>
              </a:rPr>
              <a:t>05</a:t>
            </a:r>
            <a:endParaRPr lang="es-E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" name="Text 17"/>
          <p:cNvSpPr/>
          <p:nvPr/>
        </p:nvSpPr>
        <p:spPr>
          <a:xfrm>
            <a:off x="994320" y="4372560"/>
            <a:ext cx="585180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0" u="none" strike="noStrik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Proteger al estudiante de fraudes y prácticas abusivas</a:t>
            </a:r>
            <a:endParaRPr lang="es-E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" name="Text 5"/>
          <p:cNvSpPr/>
          <p:nvPr/>
        </p:nvSpPr>
        <p:spPr>
          <a:xfrm>
            <a:off x="1031040" y="1707840"/>
            <a:ext cx="585180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0" u="none" strike="noStrik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Fácil de crear anuncios como propietario y pedir visitas como inquilino</a:t>
            </a:r>
            <a:endParaRPr lang="es-E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" name="Shape 15"/>
          <p:cNvSpPr/>
          <p:nvPr/>
        </p:nvSpPr>
        <p:spPr>
          <a:xfrm>
            <a:off x="402480" y="4355280"/>
            <a:ext cx="475200" cy="475200"/>
          </a:xfrm>
          <a:prstGeom prst="rect">
            <a:avLst/>
          </a:prstGeom>
          <a:solidFill>
            <a:srgbClr val="fe6a6a"/>
          </a:solidFill>
          <a:ln w="12700">
            <a:solidFill>
              <a:srgbClr val="fe6a6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8" name="Text 16"/>
          <p:cNvSpPr/>
          <p:nvPr/>
        </p:nvSpPr>
        <p:spPr>
          <a:xfrm>
            <a:off x="402480" y="4410000"/>
            <a:ext cx="4752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Trebuchet MS"/>
                <a:ea typeface="Trebuchet MS"/>
              </a:rPr>
              <a:t>06</a:t>
            </a:r>
            <a:endParaRPr lang="es-E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" name="Text 17"/>
          <p:cNvSpPr/>
          <p:nvPr/>
        </p:nvSpPr>
        <p:spPr>
          <a:xfrm>
            <a:off x="983160" y="3738960"/>
            <a:ext cx="585180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0" u="none" strike="noStrik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Búsqueda de habitaciones usando mapa</a:t>
            </a:r>
            <a:endParaRPr lang="es-E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Shape 0"/>
          <p:cNvSpPr/>
          <p:nvPr/>
        </p:nvSpPr>
        <p:spPr>
          <a:xfrm>
            <a:off x="0" y="0"/>
            <a:ext cx="9143640" cy="502560"/>
          </a:xfrm>
          <a:prstGeom prst="rect">
            <a:avLst/>
          </a:prstGeom>
          <a:solidFill>
            <a:srgbClr val="1e2d55"/>
          </a:solidFill>
          <a:ln w="12700">
            <a:solidFill>
              <a:srgbClr val="1e2d5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1" name="Text 1"/>
          <p:cNvSpPr/>
          <p:nvPr/>
        </p:nvSpPr>
        <p:spPr>
          <a:xfrm>
            <a:off x="365760" y="73080"/>
            <a:ext cx="822924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14b8a6"/>
                </a:solidFill>
                <a:effectLst/>
                <a:uFillTx/>
                <a:latin typeface="Trebuchet MS"/>
                <a:ea typeface="Trebuchet MS"/>
              </a:rPr>
              <a:t>SOLUCIÓN DESARROLLADA</a:t>
            </a:r>
            <a:endParaRPr lang="es-E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Text 2"/>
          <p:cNvSpPr/>
          <p:nvPr/>
        </p:nvSpPr>
        <p:spPr>
          <a:xfrm>
            <a:off x="365760" y="621720"/>
            <a:ext cx="841212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lang="en-US" sz="2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3" name="Text 3"/>
          <p:cNvSpPr/>
          <p:nvPr/>
        </p:nvSpPr>
        <p:spPr>
          <a:xfrm>
            <a:off x="384120" y="689760"/>
            <a:ext cx="475452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0d9488"/>
                </a:solidFill>
                <a:effectLst/>
                <a:uFillTx/>
                <a:latin typeface="Trebuchet MS"/>
                <a:ea typeface="Trebuchet MS"/>
              </a:rPr>
              <a:t>Funcionalidades clave</a:t>
            </a:r>
            <a:endParaRPr lang="es-E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Shape 4"/>
          <p:cNvSpPr/>
          <p:nvPr/>
        </p:nvSpPr>
        <p:spPr>
          <a:xfrm>
            <a:off x="402480" y="1183320"/>
            <a:ext cx="200880" cy="20088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5" name="Text 5"/>
          <p:cNvSpPr/>
          <p:nvPr/>
        </p:nvSpPr>
        <p:spPr>
          <a:xfrm>
            <a:off x="713160" y="1091880"/>
            <a:ext cx="438876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334155"/>
                </a:solidFill>
                <a:effectLst/>
                <a:uFillTx/>
                <a:latin typeface="Calibri"/>
                <a:ea typeface="Calibri"/>
              </a:rPr>
              <a:t>Registro como inquilino o arrendador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Shape 6"/>
          <p:cNvSpPr/>
          <p:nvPr/>
        </p:nvSpPr>
        <p:spPr>
          <a:xfrm>
            <a:off x="402480" y="1658880"/>
            <a:ext cx="200880" cy="20088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7" name="Text 7"/>
          <p:cNvSpPr/>
          <p:nvPr/>
        </p:nvSpPr>
        <p:spPr>
          <a:xfrm>
            <a:off x="713160" y="1567440"/>
            <a:ext cx="438876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334155"/>
                </a:solidFill>
                <a:effectLst/>
                <a:uFillTx/>
                <a:latin typeface="Calibri"/>
                <a:ea typeface="Calibri"/>
              </a:rPr>
              <a:t>Búsqueda y filtro de habitaciones (precio, tipo, extras)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Shape 8"/>
          <p:cNvSpPr/>
          <p:nvPr/>
        </p:nvSpPr>
        <p:spPr>
          <a:xfrm>
            <a:off x="402480" y="2134440"/>
            <a:ext cx="200880" cy="20088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9" name="Text 9"/>
          <p:cNvSpPr/>
          <p:nvPr/>
        </p:nvSpPr>
        <p:spPr>
          <a:xfrm>
            <a:off x="713160" y="2043000"/>
            <a:ext cx="438876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334155"/>
                </a:solidFill>
                <a:effectLst/>
                <a:uFillTx/>
                <a:latin typeface="Calibri"/>
                <a:ea typeface="Calibri"/>
              </a:rPr>
              <a:t>Modal de detalle con fotos y características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Shape 10"/>
          <p:cNvSpPr/>
          <p:nvPr/>
        </p:nvSpPr>
        <p:spPr>
          <a:xfrm>
            <a:off x="402480" y="2610000"/>
            <a:ext cx="200880" cy="20088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1" name="Text 11"/>
          <p:cNvSpPr/>
          <p:nvPr/>
        </p:nvSpPr>
        <p:spPr>
          <a:xfrm>
            <a:off x="713160" y="2518560"/>
            <a:ext cx="438876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334155"/>
                </a:solidFill>
                <a:effectLst/>
                <a:uFillTx/>
                <a:latin typeface="Calibri"/>
                <a:ea typeface="Calibri"/>
              </a:rPr>
              <a:t>Solicitud de visita directa desde la web por los inquilinos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Shape 12"/>
          <p:cNvSpPr/>
          <p:nvPr/>
        </p:nvSpPr>
        <p:spPr>
          <a:xfrm>
            <a:off x="402480" y="3085560"/>
            <a:ext cx="200880" cy="20088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3" name="Text 13"/>
          <p:cNvSpPr/>
          <p:nvPr/>
        </p:nvSpPr>
        <p:spPr>
          <a:xfrm>
            <a:off x="713160" y="2994120"/>
            <a:ext cx="438876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334155"/>
                </a:solidFill>
                <a:effectLst/>
                <a:uFillTx/>
                <a:latin typeface="Calibri"/>
                <a:ea typeface="Calibri"/>
              </a:rPr>
              <a:t>Creación y publicación de habitaciones por los arrendadores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Shape 27"/>
          <p:cNvSpPr/>
          <p:nvPr/>
        </p:nvSpPr>
        <p:spPr>
          <a:xfrm>
            <a:off x="0" y="4617720"/>
            <a:ext cx="9143640" cy="5256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5" name="Text 28"/>
          <p:cNvSpPr/>
          <p:nvPr/>
        </p:nvSpPr>
        <p:spPr>
          <a:xfrm>
            <a:off x="365760" y="4663440"/>
            <a:ext cx="822924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</a:pPr>
            <a:r>
              <a:rPr lang="es-ES" sz="1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🖥️</a:t>
            </a: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 </a:t>
            </a:r>
            <a:r>
              <a:rPr lang="es-ES" sz="18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https://roomie-web-blue.vercel.app/index.html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Shape 12"/>
          <p:cNvSpPr/>
          <p:nvPr/>
        </p:nvSpPr>
        <p:spPr>
          <a:xfrm>
            <a:off x="402480" y="3557160"/>
            <a:ext cx="200880" cy="20088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7" name="Text 13"/>
          <p:cNvSpPr/>
          <p:nvPr/>
        </p:nvSpPr>
        <p:spPr>
          <a:xfrm>
            <a:off x="713160" y="3465720"/>
            <a:ext cx="438876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334155"/>
                </a:solidFill>
                <a:effectLst/>
                <a:uFillTx/>
                <a:latin typeface="Calibri"/>
                <a:ea typeface="Calibri"/>
              </a:rPr>
              <a:t>Login con reconocimiento facial (Teachable Machine)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Shape 12"/>
          <p:cNvSpPr/>
          <p:nvPr/>
        </p:nvSpPr>
        <p:spPr>
          <a:xfrm>
            <a:off x="402480" y="4038480"/>
            <a:ext cx="200880" cy="20088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9" name="Text 13"/>
          <p:cNvSpPr/>
          <p:nvPr/>
        </p:nvSpPr>
        <p:spPr>
          <a:xfrm>
            <a:off x="694800" y="4047840"/>
            <a:ext cx="438876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334155"/>
                </a:solidFill>
                <a:effectLst/>
                <a:uFillTx/>
                <a:latin typeface="Calibri"/>
                <a:ea typeface="Calibri"/>
              </a:rPr>
              <a:t>App funcional para insertar, actualizar, ver y eliminar datos de la base de datos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0" name="Imagen 35"/>
          <p:cNvPicPr/>
          <p:nvPr/>
        </p:nvPicPr>
        <p:blipFill>
          <a:blip r:embed="rId1"/>
          <a:stretch/>
        </p:blipFill>
        <p:spPr>
          <a:xfrm>
            <a:off x="4572000" y="1164240"/>
            <a:ext cx="3927600" cy="17334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Shape 0"/>
          <p:cNvSpPr/>
          <p:nvPr/>
        </p:nvSpPr>
        <p:spPr>
          <a:xfrm>
            <a:off x="0" y="0"/>
            <a:ext cx="9143640" cy="502560"/>
          </a:xfrm>
          <a:prstGeom prst="rect">
            <a:avLst/>
          </a:prstGeom>
          <a:solidFill>
            <a:srgbClr val="243562"/>
          </a:solidFill>
          <a:ln w="12700">
            <a:solidFill>
              <a:srgbClr val="24356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2" name="Text 1"/>
          <p:cNvSpPr/>
          <p:nvPr/>
        </p:nvSpPr>
        <p:spPr>
          <a:xfrm>
            <a:off x="365760" y="73080"/>
            <a:ext cx="822924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14b8a6"/>
                </a:solidFill>
                <a:effectLst/>
                <a:uFillTx/>
                <a:latin typeface="Trebuchet MS"/>
                <a:ea typeface="Trebuchet MS"/>
              </a:rPr>
              <a:t>ARQUITECTURA Y DISEÑO DEL SISTEMA: DIAGRAMA DE ARQUITECTURA</a:t>
            </a:r>
            <a:endParaRPr lang="es-E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3" name="Imagen 30"/>
          <p:cNvPicPr/>
          <p:nvPr/>
        </p:nvPicPr>
        <p:blipFill>
          <a:blip r:embed="rId1"/>
          <a:stretch/>
        </p:blipFill>
        <p:spPr>
          <a:xfrm>
            <a:off x="1231200" y="823320"/>
            <a:ext cx="6498720" cy="4121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4" name="Rectángulo 31"/>
          <p:cNvSpPr/>
          <p:nvPr/>
        </p:nvSpPr>
        <p:spPr>
          <a:xfrm>
            <a:off x="0" y="502920"/>
            <a:ext cx="1156320" cy="4640400"/>
          </a:xfrm>
          <a:prstGeom prst="rect">
            <a:avLst/>
          </a:prstGeom>
          <a:solidFill>
            <a:srgbClr val="1a2340"/>
          </a:solidFill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lang="es-E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5" name="Rectángulo 32"/>
          <p:cNvSpPr/>
          <p:nvPr/>
        </p:nvSpPr>
        <p:spPr>
          <a:xfrm>
            <a:off x="7987320" y="493920"/>
            <a:ext cx="1156320" cy="4640400"/>
          </a:xfrm>
          <a:prstGeom prst="rect">
            <a:avLst/>
          </a:prstGeom>
          <a:solidFill>
            <a:srgbClr val="1a2340"/>
          </a:solidFill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lang="es-E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Shape 0"/>
          <p:cNvSpPr/>
          <p:nvPr/>
        </p:nvSpPr>
        <p:spPr>
          <a:xfrm>
            <a:off x="0" y="0"/>
            <a:ext cx="9143640" cy="502560"/>
          </a:xfrm>
          <a:prstGeom prst="rect">
            <a:avLst/>
          </a:prstGeom>
          <a:solidFill>
            <a:srgbClr val="243562"/>
          </a:solidFill>
          <a:ln w="12700">
            <a:solidFill>
              <a:srgbClr val="24356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7" name="Text 1"/>
          <p:cNvSpPr/>
          <p:nvPr/>
        </p:nvSpPr>
        <p:spPr>
          <a:xfrm>
            <a:off x="365760" y="73080"/>
            <a:ext cx="822924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14b8a6"/>
                </a:solidFill>
                <a:effectLst/>
                <a:uFillTx/>
                <a:latin typeface="Trebuchet MS"/>
                <a:ea typeface="Trebuchet MS"/>
              </a:rPr>
              <a:t>ARQUITECTURA Y DISEÑO DEL SISTEMA: CASOS DE USO </a:t>
            </a:r>
            <a:endParaRPr lang="es-E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Rectángulo 31"/>
          <p:cNvSpPr/>
          <p:nvPr/>
        </p:nvSpPr>
        <p:spPr>
          <a:xfrm>
            <a:off x="0" y="502920"/>
            <a:ext cx="1156320" cy="4640400"/>
          </a:xfrm>
          <a:prstGeom prst="rect">
            <a:avLst/>
          </a:prstGeom>
          <a:solidFill>
            <a:srgbClr val="1a2340"/>
          </a:solidFill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lang="es-E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9" name="Rectángulo 32"/>
          <p:cNvSpPr/>
          <p:nvPr/>
        </p:nvSpPr>
        <p:spPr>
          <a:xfrm>
            <a:off x="7987320" y="493920"/>
            <a:ext cx="1156320" cy="4640400"/>
          </a:xfrm>
          <a:prstGeom prst="rect">
            <a:avLst/>
          </a:prstGeom>
          <a:solidFill>
            <a:srgbClr val="1a2340"/>
          </a:solidFill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lang="es-E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90" name="Imagen 4"/>
          <p:cNvPicPr/>
          <p:nvPr/>
        </p:nvPicPr>
        <p:blipFill>
          <a:blip r:embed="rId1"/>
          <a:srcRect l="21368" t="5066" r="19483" b="24264"/>
          <a:stretch/>
        </p:blipFill>
        <p:spPr>
          <a:xfrm>
            <a:off x="1877760" y="593280"/>
            <a:ext cx="5388120" cy="45500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Shape 0"/>
          <p:cNvSpPr/>
          <p:nvPr/>
        </p:nvSpPr>
        <p:spPr>
          <a:xfrm>
            <a:off x="0" y="0"/>
            <a:ext cx="9143640" cy="502560"/>
          </a:xfrm>
          <a:prstGeom prst="rect">
            <a:avLst/>
          </a:prstGeom>
          <a:solidFill>
            <a:srgbClr val="243562"/>
          </a:solidFill>
          <a:ln w="12700">
            <a:solidFill>
              <a:srgbClr val="24356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2" name="Text 1"/>
          <p:cNvSpPr/>
          <p:nvPr/>
        </p:nvSpPr>
        <p:spPr>
          <a:xfrm>
            <a:off x="365760" y="73080"/>
            <a:ext cx="472824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14b8a6"/>
                </a:solidFill>
                <a:effectLst/>
                <a:uFillTx/>
                <a:latin typeface="Trebuchet MS"/>
                <a:ea typeface="Trebuchet MS"/>
              </a:rPr>
              <a:t>ARQUITECTURA Y DISEÑO DEL SISTEMA: BASE DE DATOS</a:t>
            </a:r>
            <a:r>
              <a:rPr lang="en-US" sz="1400" b="1" u="none" strike="noStrike">
                <a:solidFill>
                  <a:srgbClr val="14b8a6"/>
                </a:solidFill>
                <a:effectLst/>
                <a:uFillTx/>
                <a:latin typeface="Trebuchet MS"/>
                <a:ea typeface="Trebuchet MS"/>
              </a:rPr>
              <a:t>	</a:t>
            </a:r>
            <a:endParaRPr lang="es-E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Rectángulo 32"/>
          <p:cNvSpPr/>
          <p:nvPr/>
        </p:nvSpPr>
        <p:spPr>
          <a:xfrm>
            <a:off x="6668640" y="493920"/>
            <a:ext cx="2475000" cy="4640400"/>
          </a:xfrm>
          <a:prstGeom prst="rect">
            <a:avLst/>
          </a:prstGeom>
          <a:solidFill>
            <a:srgbClr val="1a2340"/>
          </a:solidFill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lang="es-E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94" name="Imagen 5"/>
          <p:cNvPicPr/>
          <p:nvPr/>
        </p:nvPicPr>
        <p:blipFill>
          <a:blip r:embed="rId1"/>
          <a:stretch/>
        </p:blipFill>
        <p:spPr>
          <a:xfrm>
            <a:off x="45720" y="773280"/>
            <a:ext cx="6571800" cy="4296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5" name="CuadroTexto 6"/>
          <p:cNvSpPr/>
          <p:nvPr/>
        </p:nvSpPr>
        <p:spPr>
          <a:xfrm>
            <a:off x="6720840" y="694440"/>
            <a:ext cx="2324880" cy="375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85840" indent="-285840" defTabSz="914400">
              <a:lnSpc>
                <a:spcPct val="100000"/>
              </a:lnSpc>
              <a:buClr>
                <a:srgbClr val="189c98"/>
              </a:buClr>
              <a:buFont typeface="OpenSymbol"/>
              <a:buChar char="-"/>
            </a:pPr>
            <a:r>
              <a:rPr lang="es-ES" sz="1400" b="0" u="none" strike="noStrike">
                <a:solidFill>
                  <a:srgbClr val="189c98"/>
                </a:solidFill>
                <a:effectLst/>
                <a:uFillTx/>
                <a:latin typeface="Calibri"/>
              </a:rPr>
              <a:t>USER (TENANT/OWNER)</a:t>
            </a:r>
            <a:br>
              <a:rPr sz="1400"/>
            </a:br>
            <a:r>
              <a:rPr lang="es-ES" sz="1400" b="0" u="none" strike="noStrike">
                <a:solidFill>
                  <a:srgbClr val="189c98"/>
                </a:solidFill>
                <a:effectLst/>
                <a:uFillTx/>
                <a:latin typeface="Calibri"/>
              </a:rPr>
              <a:t> </a:t>
            </a:r>
            <a:endParaRPr lang="es-E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189c98"/>
              </a:buClr>
              <a:buFont typeface="OpenSymbol"/>
              <a:buChar char="-"/>
            </a:pPr>
            <a:r>
              <a:rPr lang="es-ES" sz="1400" b="0" u="none" strike="noStrike">
                <a:solidFill>
                  <a:srgbClr val="189c98"/>
                </a:solidFill>
                <a:effectLst/>
                <a:uFillTx/>
                <a:latin typeface="Calibri"/>
              </a:rPr>
              <a:t>PROPERTY</a:t>
            </a:r>
            <a:br>
              <a:rPr sz="1400"/>
            </a:br>
            <a:r>
              <a:rPr lang="es-ES" sz="1400" b="0" u="none" strike="noStrike">
                <a:solidFill>
                  <a:srgbClr val="189c98"/>
                </a:solidFill>
                <a:effectLst/>
                <a:uFillTx/>
                <a:latin typeface="Calibri"/>
              </a:rPr>
              <a:t> </a:t>
            </a:r>
            <a:endParaRPr lang="es-E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189c98"/>
              </a:buClr>
              <a:buFont typeface="OpenSymbol"/>
              <a:buChar char="-"/>
            </a:pPr>
            <a:r>
              <a:rPr lang="es-ES" sz="1400" b="0" u="none" strike="noStrike">
                <a:solidFill>
                  <a:srgbClr val="189c98"/>
                </a:solidFill>
                <a:effectLst/>
                <a:uFillTx/>
                <a:latin typeface="Calibri"/>
              </a:rPr>
              <a:t>CONTRACT</a:t>
            </a:r>
            <a:br>
              <a:rPr sz="1400"/>
            </a:br>
            <a:r>
              <a:rPr lang="es-ES" sz="1400" b="0" u="none" strike="noStrike">
                <a:solidFill>
                  <a:srgbClr val="189c98"/>
                </a:solidFill>
                <a:effectLst/>
                <a:uFillTx/>
                <a:latin typeface="Calibri"/>
              </a:rPr>
              <a:t> </a:t>
            </a:r>
            <a:endParaRPr lang="es-E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189c98"/>
              </a:buClr>
              <a:buFont typeface="OpenSymbol"/>
              <a:buChar char="-"/>
            </a:pPr>
            <a:r>
              <a:rPr lang="es-ES" sz="1400" b="0" u="none" strike="noStrike">
                <a:solidFill>
                  <a:srgbClr val="189c98"/>
                </a:solidFill>
                <a:effectLst/>
                <a:uFillTx/>
                <a:latin typeface="Calibri"/>
              </a:rPr>
              <a:t>ROOM</a:t>
            </a:r>
            <a:br>
              <a:rPr sz="1400"/>
            </a:br>
            <a:r>
              <a:rPr lang="es-ES" sz="1400" b="0" u="none" strike="noStrike">
                <a:solidFill>
                  <a:srgbClr val="189c98"/>
                </a:solidFill>
                <a:effectLst/>
                <a:uFillTx/>
                <a:latin typeface="Calibri"/>
              </a:rPr>
              <a:t> </a:t>
            </a:r>
            <a:endParaRPr lang="es-E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189c98"/>
              </a:buClr>
              <a:buFont typeface="OpenSymbol"/>
              <a:buChar char="-"/>
            </a:pPr>
            <a:r>
              <a:rPr lang="es-ES" sz="1400" b="0" u="none" strike="noStrike">
                <a:solidFill>
                  <a:srgbClr val="189c98"/>
                </a:solidFill>
                <a:effectLst/>
                <a:uFillTx/>
                <a:latin typeface="Calibri"/>
              </a:rPr>
              <a:t>FURNITURE</a:t>
            </a:r>
            <a:br>
              <a:rPr sz="1400"/>
            </a:br>
            <a:r>
              <a:rPr lang="es-ES" sz="1400" b="0" u="none" strike="noStrike">
                <a:solidFill>
                  <a:srgbClr val="189c98"/>
                </a:solidFill>
                <a:effectLst/>
                <a:uFillTx/>
                <a:latin typeface="Calibri"/>
              </a:rPr>
              <a:t> </a:t>
            </a:r>
            <a:endParaRPr lang="es-E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189c98"/>
              </a:buClr>
              <a:buFont typeface="OpenSymbol"/>
              <a:buChar char="-"/>
            </a:pPr>
            <a:r>
              <a:rPr lang="es-ES" sz="1400" b="0" u="none" strike="noStrike">
                <a:solidFill>
                  <a:srgbClr val="189c98"/>
                </a:solidFill>
                <a:effectLst/>
                <a:uFillTx/>
                <a:latin typeface="Calibri"/>
              </a:rPr>
              <a:t>CITY</a:t>
            </a:r>
            <a:br>
              <a:rPr sz="1400"/>
            </a:br>
            <a:r>
              <a:rPr lang="es-ES" sz="1400" b="0" u="none" strike="noStrike">
                <a:solidFill>
                  <a:srgbClr val="189c98"/>
                </a:solidFill>
                <a:effectLst/>
                <a:uFillTx/>
                <a:latin typeface="Calibri"/>
              </a:rPr>
              <a:t> </a:t>
            </a:r>
            <a:endParaRPr lang="es-E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189c98"/>
              </a:buClr>
              <a:buFont typeface="OpenSymbol"/>
              <a:buChar char="-"/>
            </a:pPr>
            <a:r>
              <a:rPr lang="es-ES" sz="1400" b="0" u="none" strike="noStrike">
                <a:solidFill>
                  <a:srgbClr val="189c98"/>
                </a:solidFill>
                <a:effectLst/>
                <a:uFillTx/>
                <a:latin typeface="Calibri"/>
              </a:rPr>
              <a:t>PROVINCE</a:t>
            </a:r>
            <a:br>
              <a:rPr sz="1400"/>
            </a:br>
            <a:r>
              <a:rPr lang="es-ES" sz="1400" b="0" u="none" strike="noStrike">
                <a:solidFill>
                  <a:srgbClr val="189c98"/>
                </a:solidFill>
                <a:effectLst/>
                <a:uFillTx/>
                <a:latin typeface="Calibri"/>
              </a:rPr>
              <a:t> </a:t>
            </a:r>
            <a:endParaRPr lang="es-E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189c98"/>
              </a:buClr>
              <a:buFont typeface="OpenSymbol"/>
              <a:buChar char="-"/>
            </a:pPr>
            <a:r>
              <a:rPr lang="es-ES" sz="1400" b="0" u="none" strike="noStrike">
                <a:solidFill>
                  <a:srgbClr val="189c98"/>
                </a:solidFill>
                <a:effectLst/>
                <a:uFillTx/>
                <a:latin typeface="Calibri"/>
              </a:rPr>
              <a:t>INSTITUTION</a:t>
            </a:r>
            <a:br>
              <a:rPr sz="1400"/>
            </a:br>
            <a:r>
              <a:rPr lang="es-ES" sz="1400" b="0" u="none" strike="noStrike">
                <a:solidFill>
                  <a:srgbClr val="189c98"/>
                </a:solidFill>
                <a:effectLst/>
                <a:uFillTx/>
                <a:latin typeface="Calibri"/>
              </a:rPr>
              <a:t> </a:t>
            </a:r>
            <a:endParaRPr lang="es-E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189c98"/>
              </a:buClr>
              <a:buFont typeface="OpenSymbol"/>
              <a:buChar char="-"/>
            </a:pPr>
            <a:r>
              <a:rPr lang="es-ES" sz="1400" b="0" u="none" strike="noStrike">
                <a:solidFill>
                  <a:srgbClr val="189c98"/>
                </a:solidFill>
                <a:effectLst/>
                <a:uFillTx/>
                <a:latin typeface="Calibri"/>
              </a:rPr>
              <a:t>“CONTRACT”</a:t>
            </a:r>
            <a:endParaRPr lang="es-E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CuadroTexto 8"/>
          <p:cNvSpPr/>
          <p:nvPr/>
        </p:nvSpPr>
        <p:spPr>
          <a:xfrm>
            <a:off x="7080120" y="67680"/>
            <a:ext cx="2475000" cy="36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s-ES" sz="1800" b="1" u="none" strike="noStrike">
                <a:solidFill>
                  <a:srgbClr val="189c98"/>
                </a:solidFill>
                <a:effectLst/>
                <a:uFillTx/>
                <a:latin typeface="Calibri"/>
              </a:rPr>
              <a:t>ENTIDADES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Shape 0"/>
          <p:cNvSpPr/>
          <p:nvPr/>
        </p:nvSpPr>
        <p:spPr>
          <a:xfrm>
            <a:off x="0" y="0"/>
            <a:ext cx="9143640" cy="502560"/>
          </a:xfrm>
          <a:prstGeom prst="rect">
            <a:avLst/>
          </a:prstGeom>
          <a:solidFill>
            <a:srgbClr val="243562"/>
          </a:solidFill>
          <a:ln w="12700">
            <a:solidFill>
              <a:srgbClr val="24356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8" name="Text 1"/>
          <p:cNvSpPr/>
          <p:nvPr/>
        </p:nvSpPr>
        <p:spPr>
          <a:xfrm>
            <a:off x="365760" y="73080"/>
            <a:ext cx="822924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14b8a6"/>
                </a:solidFill>
                <a:effectLst/>
                <a:uFillTx/>
                <a:latin typeface="Trebuchet MS"/>
                <a:ea typeface="Trebuchet MS"/>
              </a:rPr>
              <a:t>ARQUITECTURA Y DISEÑO DEL SISTEMA: DIAGRAMA DE CLASES </a:t>
            </a:r>
            <a:endParaRPr lang="es-E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Rectángulo 31"/>
          <p:cNvSpPr/>
          <p:nvPr/>
        </p:nvSpPr>
        <p:spPr>
          <a:xfrm>
            <a:off x="0" y="502920"/>
            <a:ext cx="1156320" cy="4640400"/>
          </a:xfrm>
          <a:prstGeom prst="rect">
            <a:avLst/>
          </a:prstGeom>
          <a:solidFill>
            <a:srgbClr val="1a2340"/>
          </a:solidFill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lang="es-E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0" name="Rectángulo 32"/>
          <p:cNvSpPr/>
          <p:nvPr/>
        </p:nvSpPr>
        <p:spPr>
          <a:xfrm>
            <a:off x="7987320" y="493920"/>
            <a:ext cx="1156320" cy="4640400"/>
          </a:xfrm>
          <a:prstGeom prst="rect">
            <a:avLst/>
          </a:prstGeom>
          <a:solidFill>
            <a:srgbClr val="1a2340"/>
          </a:solidFill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lang="es-E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101" name="Imagen 5"/>
          <p:cNvPicPr/>
          <p:nvPr/>
        </p:nvPicPr>
        <p:blipFill>
          <a:blip r:embed="rId1"/>
          <a:stretch/>
        </p:blipFill>
        <p:spPr>
          <a:xfrm>
            <a:off x="2087640" y="502920"/>
            <a:ext cx="4428360" cy="46310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Shape 0"/>
          <p:cNvSpPr/>
          <p:nvPr/>
        </p:nvSpPr>
        <p:spPr>
          <a:xfrm>
            <a:off x="0" y="0"/>
            <a:ext cx="9143640" cy="502560"/>
          </a:xfrm>
          <a:prstGeom prst="rect">
            <a:avLst/>
          </a:prstGeom>
          <a:solidFill>
            <a:srgbClr val="1e2d55"/>
          </a:solidFill>
          <a:ln w="12700">
            <a:solidFill>
              <a:srgbClr val="1e2d5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3" name="Text 1"/>
          <p:cNvSpPr/>
          <p:nvPr/>
        </p:nvSpPr>
        <p:spPr>
          <a:xfrm>
            <a:off x="365760" y="73080"/>
            <a:ext cx="822924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14b8a6"/>
                </a:solidFill>
                <a:effectLst/>
                <a:uFillTx/>
                <a:latin typeface="Trebuchet MS"/>
                <a:ea typeface="Trebuchet MS"/>
              </a:rPr>
              <a:t>TECNOLOGÍAS UTILIZADAS</a:t>
            </a:r>
            <a:endParaRPr lang="es-E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Shape 2"/>
          <p:cNvSpPr/>
          <p:nvPr/>
        </p:nvSpPr>
        <p:spPr>
          <a:xfrm>
            <a:off x="320040" y="685800"/>
            <a:ext cx="2742840" cy="1599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algn="bl" blurRad="101520" dir="8100000" dist="37674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5" name="Shape 3"/>
          <p:cNvSpPr/>
          <p:nvPr/>
        </p:nvSpPr>
        <p:spPr>
          <a:xfrm>
            <a:off x="320040" y="685800"/>
            <a:ext cx="2742840" cy="9108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6" name="Text 4"/>
          <p:cNvSpPr/>
          <p:nvPr/>
        </p:nvSpPr>
        <p:spPr>
          <a:xfrm>
            <a:off x="457200" y="850320"/>
            <a:ext cx="246852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1" u="none" strike="noStrike">
                <a:solidFill>
                  <a:srgbClr val="0d9488"/>
                </a:solidFill>
                <a:effectLst/>
                <a:uFillTx/>
                <a:latin typeface="Trebuchet MS"/>
                <a:ea typeface="Trebuchet MS"/>
              </a:rPr>
              <a:t>FRONTEND</a:t>
            </a:r>
            <a:endParaRPr lang="es-E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Text 5"/>
          <p:cNvSpPr/>
          <p:nvPr/>
        </p:nvSpPr>
        <p:spPr>
          <a:xfrm>
            <a:off x="457200" y="1124640"/>
            <a:ext cx="24685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800" b="1" u="none" strike="noStrike">
                <a:solidFill>
                  <a:srgbClr val="1a2340"/>
                </a:solidFill>
                <a:effectLst/>
                <a:uFillTx/>
                <a:latin typeface="Trebuchet MS"/>
                <a:ea typeface="Trebuchet MS"/>
              </a:rPr>
              <a:t>HTML + CSS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Text 6"/>
          <p:cNvSpPr/>
          <p:nvPr/>
        </p:nvSpPr>
        <p:spPr>
          <a:xfrm>
            <a:off x="457200" y="1645920"/>
            <a:ext cx="24685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334155"/>
                </a:solidFill>
                <a:effectLst/>
                <a:uFillTx/>
                <a:latin typeface="Calibri"/>
                <a:ea typeface="Calibri"/>
              </a:rPr>
              <a:t>Estructura y diseño visual de la web</a:t>
            </a:r>
            <a:endParaRPr lang="es-E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Shape 7"/>
          <p:cNvSpPr/>
          <p:nvPr/>
        </p:nvSpPr>
        <p:spPr>
          <a:xfrm>
            <a:off x="3246120" y="685800"/>
            <a:ext cx="2742840" cy="1599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algn="bl" blurRad="101520" dir="8100000" dist="37674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0" name="Shape 8"/>
          <p:cNvSpPr/>
          <p:nvPr/>
        </p:nvSpPr>
        <p:spPr>
          <a:xfrm>
            <a:off x="3246120" y="685800"/>
            <a:ext cx="2742840" cy="9108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1" name="Text 9"/>
          <p:cNvSpPr/>
          <p:nvPr/>
        </p:nvSpPr>
        <p:spPr>
          <a:xfrm>
            <a:off x="3383280" y="850320"/>
            <a:ext cx="246852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1" u="none" strike="noStrike">
                <a:solidFill>
                  <a:srgbClr val="0d9488"/>
                </a:solidFill>
                <a:effectLst/>
                <a:uFillTx/>
                <a:latin typeface="Trebuchet MS"/>
                <a:ea typeface="Trebuchet MS"/>
              </a:rPr>
              <a:t>FRONTEND</a:t>
            </a:r>
            <a:endParaRPr lang="es-E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Text 10"/>
          <p:cNvSpPr/>
          <p:nvPr/>
        </p:nvSpPr>
        <p:spPr>
          <a:xfrm>
            <a:off x="3383280" y="1124640"/>
            <a:ext cx="24685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800" b="1" u="none" strike="noStrike">
                <a:solidFill>
                  <a:srgbClr val="1a2340"/>
                </a:solidFill>
                <a:effectLst/>
                <a:uFillTx/>
                <a:latin typeface="Trebuchet MS"/>
                <a:ea typeface="Trebuchet MS"/>
              </a:rPr>
              <a:t>JavaScript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Text 11"/>
          <p:cNvSpPr/>
          <p:nvPr/>
        </p:nvSpPr>
        <p:spPr>
          <a:xfrm>
            <a:off x="3383280" y="1645920"/>
            <a:ext cx="24685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334155"/>
                </a:solidFill>
                <a:effectLst/>
                <a:uFillTx/>
                <a:latin typeface="Calibri"/>
                <a:ea typeface="Calibri"/>
              </a:rPr>
              <a:t>Interactividad, filtros y Local Storage</a:t>
            </a:r>
            <a:endParaRPr lang="es-E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Shape 12"/>
          <p:cNvSpPr/>
          <p:nvPr/>
        </p:nvSpPr>
        <p:spPr>
          <a:xfrm>
            <a:off x="6172200" y="685800"/>
            <a:ext cx="2742840" cy="1599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algn="bl" blurRad="101520" dir="8100000" dist="37674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5" name="Shape 13"/>
          <p:cNvSpPr/>
          <p:nvPr/>
        </p:nvSpPr>
        <p:spPr>
          <a:xfrm>
            <a:off x="6172200" y="685800"/>
            <a:ext cx="2742840" cy="91080"/>
          </a:xfrm>
          <a:prstGeom prst="rect">
            <a:avLst/>
          </a:prstGeom>
          <a:solidFill>
            <a:srgbClr val="0070c0"/>
          </a:solidFill>
          <a:ln w="12700">
            <a:solidFill>
              <a:srgbClr val="0d948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6" name="Text 14"/>
          <p:cNvSpPr/>
          <p:nvPr/>
        </p:nvSpPr>
        <p:spPr>
          <a:xfrm>
            <a:off x="6309360" y="850320"/>
            <a:ext cx="246852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1" u="none" strike="noStrike">
                <a:solidFill>
                  <a:srgbClr val="0070c0"/>
                </a:solidFill>
                <a:effectLst/>
                <a:uFillTx/>
                <a:latin typeface="Trebuchet MS"/>
                <a:ea typeface="Trebuchet MS"/>
              </a:rPr>
              <a:t>HOSTING</a:t>
            </a:r>
            <a:endParaRPr lang="es-E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Text 15"/>
          <p:cNvSpPr/>
          <p:nvPr/>
        </p:nvSpPr>
        <p:spPr>
          <a:xfrm>
            <a:off x="6309360" y="1124640"/>
            <a:ext cx="24685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800" b="1" u="none" strike="noStrike">
                <a:solidFill>
                  <a:srgbClr val="1a2340"/>
                </a:solidFill>
                <a:effectLst/>
                <a:uFillTx/>
                <a:latin typeface="Trebuchet MS"/>
                <a:ea typeface="Trebuchet MS"/>
              </a:rPr>
              <a:t>Vercel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Text 16"/>
          <p:cNvSpPr/>
          <p:nvPr/>
        </p:nvSpPr>
        <p:spPr>
          <a:xfrm>
            <a:off x="6309360" y="1645920"/>
            <a:ext cx="24685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334155"/>
                </a:solidFill>
                <a:effectLst/>
                <a:uFillTx/>
                <a:latin typeface="Calibri"/>
                <a:ea typeface="Calibri"/>
              </a:rPr>
              <a:t>Despliegue en la nube del frontend usando el repositorio de GitHub</a:t>
            </a:r>
            <a:endParaRPr lang="es-E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Shape 17"/>
          <p:cNvSpPr/>
          <p:nvPr/>
        </p:nvSpPr>
        <p:spPr>
          <a:xfrm>
            <a:off x="320040" y="2514600"/>
            <a:ext cx="2742840" cy="1599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algn="bl" blurRad="101520" dir="8100000" dist="37674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0" name="Shape 18"/>
          <p:cNvSpPr/>
          <p:nvPr/>
        </p:nvSpPr>
        <p:spPr>
          <a:xfrm>
            <a:off x="320040" y="2514600"/>
            <a:ext cx="2742840" cy="9108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1" name="Text 19"/>
          <p:cNvSpPr/>
          <p:nvPr/>
        </p:nvSpPr>
        <p:spPr>
          <a:xfrm>
            <a:off x="457200" y="2679120"/>
            <a:ext cx="246852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1" u="none" strike="noStrike">
                <a:solidFill>
                  <a:srgbClr val="f97316"/>
                </a:solidFill>
                <a:effectLst/>
                <a:uFillTx/>
                <a:latin typeface="Trebuchet MS"/>
                <a:ea typeface="Trebuchet MS"/>
              </a:rPr>
              <a:t>BACKEND</a:t>
            </a:r>
            <a:endParaRPr lang="es-E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Text 20"/>
          <p:cNvSpPr/>
          <p:nvPr/>
        </p:nvSpPr>
        <p:spPr>
          <a:xfrm>
            <a:off x="457200" y="2953440"/>
            <a:ext cx="24685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800" b="1" u="none" strike="noStrike">
                <a:solidFill>
                  <a:srgbClr val="1a2340"/>
                </a:solidFill>
                <a:effectLst/>
                <a:uFillTx/>
                <a:latin typeface="Trebuchet MS"/>
                <a:ea typeface="Trebuchet MS"/>
              </a:rPr>
              <a:t>Java + JavaFX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Text 21"/>
          <p:cNvSpPr/>
          <p:nvPr/>
        </p:nvSpPr>
        <p:spPr>
          <a:xfrm>
            <a:off x="457200" y="3474720"/>
            <a:ext cx="24685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334155"/>
                </a:solidFill>
                <a:effectLst/>
                <a:uFillTx/>
                <a:latin typeface="Calibri"/>
                <a:ea typeface="Calibri"/>
              </a:rPr>
              <a:t>App CRUD para administración de la BD</a:t>
            </a:r>
            <a:endParaRPr lang="es-E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Shape 22"/>
          <p:cNvSpPr/>
          <p:nvPr/>
        </p:nvSpPr>
        <p:spPr>
          <a:xfrm>
            <a:off x="3246120" y="2514600"/>
            <a:ext cx="2742840" cy="1599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algn="bl" blurRad="101520" dir="8100000" dist="37674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5" name="Shape 23"/>
          <p:cNvSpPr/>
          <p:nvPr/>
        </p:nvSpPr>
        <p:spPr>
          <a:xfrm>
            <a:off x="3246120" y="2514600"/>
            <a:ext cx="2742840" cy="9108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6" name="Text 24"/>
          <p:cNvSpPr/>
          <p:nvPr/>
        </p:nvSpPr>
        <p:spPr>
          <a:xfrm>
            <a:off x="3383280" y="2679120"/>
            <a:ext cx="246852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1" u="none" strike="noStrike">
                <a:solidFill>
                  <a:srgbClr val="f97316"/>
                </a:solidFill>
                <a:effectLst/>
                <a:uFillTx/>
                <a:latin typeface="Trebuchet MS"/>
                <a:ea typeface="Trebuchet MS"/>
              </a:rPr>
              <a:t>BASE DE DATOS</a:t>
            </a:r>
            <a:endParaRPr lang="es-E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Text 25"/>
          <p:cNvSpPr/>
          <p:nvPr/>
        </p:nvSpPr>
        <p:spPr>
          <a:xfrm>
            <a:off x="3383280" y="2953440"/>
            <a:ext cx="24685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800" b="1" u="none" strike="noStrike">
                <a:solidFill>
                  <a:srgbClr val="1a2340"/>
                </a:solidFill>
                <a:effectLst/>
                <a:uFillTx/>
                <a:latin typeface="Trebuchet MS"/>
                <a:ea typeface="Trebuchet MS"/>
              </a:rPr>
              <a:t>SQL Server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Text 26"/>
          <p:cNvSpPr/>
          <p:nvPr/>
        </p:nvSpPr>
        <p:spPr>
          <a:xfrm>
            <a:off x="3383280" y="3474720"/>
            <a:ext cx="24685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334155"/>
                </a:solidFill>
                <a:effectLst/>
                <a:uFillTx/>
                <a:latin typeface="Calibri"/>
                <a:ea typeface="Calibri"/>
              </a:rPr>
              <a:t>Creación de BD e inserción de datos</a:t>
            </a:r>
            <a:endParaRPr lang="es-E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Shape 27"/>
          <p:cNvSpPr/>
          <p:nvPr/>
        </p:nvSpPr>
        <p:spPr>
          <a:xfrm>
            <a:off x="6172200" y="2514600"/>
            <a:ext cx="2742840" cy="1599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algn="bl" blurRad="101520" dir="8100000" dist="37674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0" name="Shape 28"/>
          <p:cNvSpPr/>
          <p:nvPr/>
        </p:nvSpPr>
        <p:spPr>
          <a:xfrm>
            <a:off x="6172200" y="2514600"/>
            <a:ext cx="2742840" cy="9108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1" name="Text 29"/>
          <p:cNvSpPr/>
          <p:nvPr/>
        </p:nvSpPr>
        <p:spPr>
          <a:xfrm>
            <a:off x="6309360" y="2679120"/>
            <a:ext cx="246852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1" u="none" strike="noStrike">
                <a:solidFill>
                  <a:srgbClr val="8b5cf6"/>
                </a:solidFill>
                <a:effectLst/>
                <a:uFillTx/>
                <a:latin typeface="Trebuchet MS"/>
                <a:ea typeface="Trebuchet MS"/>
              </a:rPr>
              <a:t> EXTRAS</a:t>
            </a:r>
            <a:endParaRPr lang="es-E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Text 30"/>
          <p:cNvSpPr/>
          <p:nvPr/>
        </p:nvSpPr>
        <p:spPr>
          <a:xfrm>
            <a:off x="6309360" y="2953440"/>
            <a:ext cx="24685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800" b="1" u="none" strike="noStrike">
                <a:solidFill>
                  <a:srgbClr val="1a2340"/>
                </a:solidFill>
                <a:effectLst/>
                <a:uFillTx/>
                <a:latin typeface="Trebuchet MS"/>
                <a:ea typeface="Trebuchet MS"/>
              </a:rPr>
              <a:t>Teachable Machine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Text 31"/>
          <p:cNvSpPr/>
          <p:nvPr/>
        </p:nvSpPr>
        <p:spPr>
          <a:xfrm>
            <a:off x="6309360" y="3474720"/>
            <a:ext cx="24685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334155"/>
                </a:solidFill>
                <a:effectLst/>
                <a:uFillTx/>
                <a:latin typeface="Calibri"/>
                <a:ea typeface="Calibri"/>
              </a:rPr>
              <a:t>Reconocimiento facial para login</a:t>
            </a:r>
            <a:endParaRPr lang="es-E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Shape 32"/>
          <p:cNvSpPr/>
          <p:nvPr/>
        </p:nvSpPr>
        <p:spPr>
          <a:xfrm>
            <a:off x="0" y="4617720"/>
            <a:ext cx="9143640" cy="525600"/>
          </a:xfrm>
          <a:prstGeom prst="rect">
            <a:avLst/>
          </a:prstGeom>
          <a:solidFill>
            <a:srgbClr val="1e2d55"/>
          </a:solidFill>
          <a:ln w="12700">
            <a:solidFill>
              <a:srgbClr val="1e2d5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5" name="Text 33"/>
          <p:cNvSpPr/>
          <p:nvPr/>
        </p:nvSpPr>
        <p:spPr>
          <a:xfrm>
            <a:off x="365760" y="4663440"/>
            <a:ext cx="841212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Herramientas: IntelliJ IDEA · VS Code · GitHub · Sourcetree · Trello · Draw.io · SQL Server Management Studio</a:t>
            </a:r>
            <a:endParaRPr lang="es-E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23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Shape 0"/>
          <p:cNvSpPr/>
          <p:nvPr/>
        </p:nvSpPr>
        <p:spPr>
          <a:xfrm>
            <a:off x="5943600" y="-457200"/>
            <a:ext cx="4571640" cy="4571640"/>
          </a:xfrm>
          <a:prstGeom prst="ellipse">
            <a:avLst/>
          </a:prstGeom>
          <a:solidFill>
            <a:srgbClr val="243562"/>
          </a:solidFill>
          <a:ln w="12700">
            <a:solidFill>
              <a:srgbClr val="24356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7" name="Shape 1"/>
          <p:cNvSpPr/>
          <p:nvPr/>
        </p:nvSpPr>
        <p:spPr>
          <a:xfrm>
            <a:off x="0" y="0"/>
            <a:ext cx="5486040" cy="50256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8" name="Text 2"/>
          <p:cNvSpPr/>
          <p:nvPr/>
        </p:nvSpPr>
        <p:spPr>
          <a:xfrm>
            <a:off x="365760" y="73080"/>
            <a:ext cx="475452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Trebuchet MS"/>
                <a:ea typeface="Trebuchet MS"/>
              </a:rPr>
              <a:t>CONCLUSIONES</a:t>
            </a:r>
            <a:endParaRPr lang="es-E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9" name="Text 3"/>
          <p:cNvSpPr/>
          <p:nvPr/>
        </p:nvSpPr>
        <p:spPr>
          <a:xfrm>
            <a:off x="365760" y="640080"/>
            <a:ext cx="457164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500" b="1" u="none" strike="noStrike">
                <a:solidFill>
                  <a:srgbClr val="14b8a6"/>
                </a:solidFill>
                <a:effectLst/>
                <a:uFillTx/>
                <a:latin typeface="Trebuchet MS"/>
                <a:ea typeface="Trebuchet MS"/>
              </a:rPr>
              <a:t>✅  Logros</a:t>
            </a:r>
            <a:endParaRPr lang="es-E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0" name="Shape 4"/>
          <p:cNvSpPr/>
          <p:nvPr/>
        </p:nvSpPr>
        <p:spPr>
          <a:xfrm>
            <a:off x="365760" y="1088280"/>
            <a:ext cx="54360" cy="27396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1" name="Text 5"/>
          <p:cNvSpPr/>
          <p:nvPr/>
        </p:nvSpPr>
        <p:spPr>
          <a:xfrm>
            <a:off x="567000" y="978480"/>
            <a:ext cx="539460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Web funcional con reconocimiento facial, filtros y solicitud de visitas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2" name="Shape 6"/>
          <p:cNvSpPr/>
          <p:nvPr/>
        </p:nvSpPr>
        <p:spPr>
          <a:xfrm>
            <a:off x="365760" y="1476720"/>
            <a:ext cx="54360" cy="27396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3" name="Text 7"/>
          <p:cNvSpPr/>
          <p:nvPr/>
        </p:nvSpPr>
        <p:spPr>
          <a:xfrm>
            <a:off x="567000" y="1366920"/>
            <a:ext cx="539460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Base de datos completa con triggers y app JavaFX de administración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" name="Shape 8"/>
          <p:cNvSpPr/>
          <p:nvPr/>
        </p:nvSpPr>
        <p:spPr>
          <a:xfrm>
            <a:off x="365760" y="1888200"/>
            <a:ext cx="54360" cy="27396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5" name="Text 9"/>
          <p:cNvSpPr/>
          <p:nvPr/>
        </p:nvSpPr>
        <p:spPr>
          <a:xfrm>
            <a:off x="567000" y="1778400"/>
            <a:ext cx="539460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Simulación de conexión frontend–backend con Local Storage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6" name="Shape 10"/>
          <p:cNvSpPr/>
          <p:nvPr/>
        </p:nvSpPr>
        <p:spPr>
          <a:xfrm>
            <a:off x="365760" y="2277000"/>
            <a:ext cx="54360" cy="27396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7" name="Text 11"/>
          <p:cNvSpPr/>
          <p:nvPr/>
        </p:nvSpPr>
        <p:spPr>
          <a:xfrm>
            <a:off x="567000" y="2167200"/>
            <a:ext cx="539460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Metodología Kanban aplicada en todo el desarrollo con Trello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8" name="Text 12"/>
          <p:cNvSpPr/>
          <p:nvPr/>
        </p:nvSpPr>
        <p:spPr>
          <a:xfrm>
            <a:off x="329040" y="2752200"/>
            <a:ext cx="548604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500" b="1" u="none" strike="noStrike">
                <a:solidFill>
                  <a:srgbClr val="f97316"/>
                </a:solidFill>
                <a:effectLst/>
                <a:uFillTx/>
                <a:latin typeface="Trebuchet MS"/>
                <a:ea typeface="Trebuchet MS"/>
              </a:rPr>
              <a:t>⚡  Pendiente y mejoras futuras</a:t>
            </a:r>
            <a:endParaRPr lang="es-E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9" name="Shape 13"/>
          <p:cNvSpPr/>
          <p:nvPr/>
        </p:nvSpPr>
        <p:spPr>
          <a:xfrm>
            <a:off x="365760" y="3273480"/>
            <a:ext cx="200880" cy="200880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0" name="Text 14"/>
          <p:cNvSpPr/>
          <p:nvPr/>
        </p:nvSpPr>
        <p:spPr>
          <a:xfrm>
            <a:off x="676800" y="3182040"/>
            <a:ext cx="512028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Conexión real frontend backend 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1" name="Shape 15"/>
          <p:cNvSpPr/>
          <p:nvPr/>
        </p:nvSpPr>
        <p:spPr>
          <a:xfrm>
            <a:off x="365760" y="3634920"/>
            <a:ext cx="200880" cy="200880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2" name="Text 16"/>
          <p:cNvSpPr/>
          <p:nvPr/>
        </p:nvSpPr>
        <p:spPr>
          <a:xfrm>
            <a:off x="676800" y="3549600"/>
            <a:ext cx="512028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Búsqueda por mapa interactivo (API Maps)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" name="Shape 17"/>
          <p:cNvSpPr/>
          <p:nvPr/>
        </p:nvSpPr>
        <p:spPr>
          <a:xfrm>
            <a:off x="365760" y="4008240"/>
            <a:ext cx="200880" cy="200880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4" name="Text 18"/>
          <p:cNvSpPr/>
          <p:nvPr/>
        </p:nvSpPr>
        <p:spPr>
          <a:xfrm>
            <a:off x="676800" y="3916800"/>
            <a:ext cx="512028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App móvil con Flutter / Android Studio (CRM)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" name="Shape 15"/>
          <p:cNvSpPr/>
          <p:nvPr/>
        </p:nvSpPr>
        <p:spPr>
          <a:xfrm>
            <a:off x="365760" y="4364640"/>
            <a:ext cx="200880" cy="200880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6" name="Text 16"/>
          <p:cNvSpPr/>
          <p:nvPr/>
        </p:nvSpPr>
        <p:spPr>
          <a:xfrm>
            <a:off x="676800" y="4279320"/>
            <a:ext cx="512028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Función para firmar contratos desde la App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7" name="Shape 15"/>
          <p:cNvSpPr/>
          <p:nvPr/>
        </p:nvSpPr>
        <p:spPr>
          <a:xfrm>
            <a:off x="365760" y="4727160"/>
            <a:ext cx="200880" cy="200880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8" name="Text 16"/>
          <p:cNvSpPr/>
          <p:nvPr/>
        </p:nvSpPr>
        <p:spPr>
          <a:xfrm>
            <a:off x="676800" y="4641840"/>
            <a:ext cx="512028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Función para controlar el depósito del alquiler y evitar fraudes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Shape 0"/>
          <p:cNvSpPr/>
          <p:nvPr/>
        </p:nvSpPr>
        <p:spPr>
          <a:xfrm>
            <a:off x="0" y="0"/>
            <a:ext cx="9143640" cy="502560"/>
          </a:xfrm>
          <a:prstGeom prst="rect">
            <a:avLst/>
          </a:prstGeom>
          <a:solidFill>
            <a:srgbClr val="1e2d55"/>
          </a:solidFill>
          <a:ln w="12700">
            <a:solidFill>
              <a:srgbClr val="1e2d5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0" name="Text 1"/>
          <p:cNvSpPr/>
          <p:nvPr/>
        </p:nvSpPr>
        <p:spPr>
          <a:xfrm>
            <a:off x="365760" y="73080"/>
            <a:ext cx="822924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14b8a6"/>
                </a:solidFill>
                <a:effectLst/>
                <a:uFillTx/>
                <a:latin typeface="Trebuchet MS"/>
                <a:ea typeface="Trebuchet MS"/>
              </a:rPr>
              <a:t>VIDEO DEMO</a:t>
            </a:r>
            <a:endParaRPr lang="es-E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Shape 32"/>
          <p:cNvSpPr/>
          <p:nvPr/>
        </p:nvSpPr>
        <p:spPr>
          <a:xfrm>
            <a:off x="0" y="4617720"/>
            <a:ext cx="9143640" cy="525600"/>
          </a:xfrm>
          <a:prstGeom prst="rect">
            <a:avLst/>
          </a:prstGeom>
          <a:solidFill>
            <a:srgbClr val="1e2d55"/>
          </a:solidFill>
          <a:ln w="12700">
            <a:solidFill>
              <a:srgbClr val="1e2d5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2" name="CuadroTexto 4"/>
          <p:cNvSpPr/>
          <p:nvPr/>
        </p:nvSpPr>
        <p:spPr>
          <a:xfrm>
            <a:off x="2766960" y="1310040"/>
            <a:ext cx="337680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s-ES" sz="1800" b="0" u="sng" strike="noStrike">
                <a:solidFill>
                  <a:srgbClr val="0563c1"/>
                </a:solidFill>
                <a:effectLst/>
                <a:uFillTx/>
                <a:latin typeface="Calibri"/>
                <a:hlinkClick r:id="rId1"/>
              </a:rPr>
              <a:t>Link a video </a:t>
            </a:r>
            <a:r>
              <a:rPr lang="es-ES" sz="1800" b="0" u="sng" strike="noStrike">
                <a:solidFill>
                  <a:srgbClr val="0563c1"/>
                </a:solidFill>
                <a:effectLst/>
                <a:uFillTx/>
                <a:latin typeface="Calibri"/>
                <a:hlinkClick r:id="rId2"/>
              </a:rPr>
              <a:t>youtube</a:t>
            </a:r>
            <a:r>
              <a:rPr lang="es-ES" sz="1800" b="0" u="sng" strike="noStrike">
                <a:solidFill>
                  <a:srgbClr val="0563c1"/>
                </a:solidFill>
                <a:effectLst/>
                <a:uFillTx/>
                <a:latin typeface="Calibri"/>
              </a:rPr>
              <a:t> página web</a:t>
            </a:r>
            <a:r>
              <a:rPr lang="es-ES" sz="1800" b="0" u="sng" strike="noStrike">
                <a:solidFill>
                  <a:schemeClr val="lt1"/>
                </a:solidFill>
                <a:effectLst/>
                <a:uFillTx/>
                <a:latin typeface="Calibri"/>
                <a:hlinkClick r:id="rId3"/>
              </a:rPr>
              <a:t> 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CuadroTexto 2"/>
          <p:cNvSpPr/>
          <p:nvPr/>
        </p:nvSpPr>
        <p:spPr>
          <a:xfrm>
            <a:off x="2950560" y="2214360"/>
            <a:ext cx="337680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s-ES" sz="1800" b="0" u="sng" strike="noStrike">
                <a:solidFill>
                  <a:srgbClr val="0563c1"/>
                </a:solidFill>
                <a:effectLst/>
                <a:uFillTx/>
                <a:latin typeface="Calibri"/>
                <a:hlinkClick r:id="rId4"/>
              </a:rPr>
              <a:t>Link a video </a:t>
            </a:r>
            <a:r>
              <a:rPr lang="es-ES" sz="1800" b="0" u="sng" strike="noStrike">
                <a:solidFill>
                  <a:srgbClr val="0563c1"/>
                </a:solidFill>
                <a:effectLst/>
                <a:uFillTx/>
                <a:latin typeface="Calibri"/>
                <a:hlinkClick r:id="rId5"/>
              </a:rPr>
              <a:t>youtube</a:t>
            </a:r>
            <a:r>
              <a:rPr lang="es-ES" sz="1800" b="0" u="sng" strike="noStrike">
                <a:solidFill>
                  <a:srgbClr val="0563c1"/>
                </a:solidFill>
                <a:effectLst/>
                <a:uFillTx/>
                <a:latin typeface="Calibri"/>
              </a:rPr>
              <a:t> JavaFX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90</TotalTime>
  <Application>LibreOffice/25.8.6.1$Windows_X86_64 LibreOffice_project/85297ec6e49ec4e6faaa6f11880d49294fc70e60</Application>
  <AppVersion>15.0000</AppVersion>
  <Words>494</Words>
  <Paragraphs>96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2026-05-17T16:07:42Z</dcterms:created>
  <dc:creator>PptxGenJS</dc:creator>
  <dc:description/>
  <dc:language>es-ES</dc:language>
  <cp:lastModifiedBy/>
  <dcterms:modified xsi:type="dcterms:W3CDTF">2026-05-27T23:44:50Z</dcterms:modified>
  <cp:revision>6</cp:revision>
  <dc:subject>PptxGenJS Presentation</dc:subject>
  <dc:title>Roomie - Proyecto Intermodular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11</vt:i4>
  </property>
  <property fmtid="{D5CDD505-2E9C-101B-9397-08002B2CF9AE}" pid="3" name="PresentationFormat">
    <vt:lpwstr>Presentación en pantalla (16:9)</vt:lpwstr>
  </property>
  <property fmtid="{D5CDD505-2E9C-101B-9397-08002B2CF9AE}" pid="4" name="Slides">
    <vt:i4>11</vt:i4>
  </property>
</Properties>
</file>